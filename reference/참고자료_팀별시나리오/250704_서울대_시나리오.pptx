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1045" r:id="rId2"/>
    <p:sldId id="1141" r:id="rId3"/>
    <p:sldId id="1142" r:id="rId4"/>
    <p:sldId id="1143" r:id="rId5"/>
    <p:sldId id="1144" r:id="rId6"/>
    <p:sldId id="1145" r:id="rId7"/>
    <p:sldId id="1138" r:id="rId8"/>
    <p:sldId id="1139" r:id="rId9"/>
    <p:sldId id="1140" r:id="rId10"/>
    <p:sldId id="1147" r:id="rId11"/>
    <p:sldId id="1146" r:id="rId12"/>
  </p:sldIdLst>
  <p:sldSz cx="12192000" cy="6858000"/>
  <p:notesSz cx="6858000" cy="9144000"/>
  <p:embeddedFontLst>
    <p:embeddedFont>
      <p:font typeface="나눔스퀘어OTF Bold" panose="020B0600000101010101" pitchFamily="34" charset="-127"/>
      <p:bold r:id="rId14"/>
    </p:embeddedFont>
    <p:embeddedFont>
      <p:font typeface="Arial Rounded MT Bold" panose="020F0704030504030204" pitchFamily="34" charset="0"/>
      <p:regular r:id="rId15"/>
    </p:embeddedFont>
    <p:embeddedFont>
      <p:font typeface="Cambria Math" panose="02040503050406030204" pitchFamily="18" charset="0"/>
      <p:regular r:id="rId16"/>
    </p:embeddedFont>
    <p:embeddedFont>
      <p:font typeface="나눔스퀘어" panose="020B0600000101010101" pitchFamily="50" charset="-127"/>
      <p:regular r:id="rId17"/>
    </p:embeddedFont>
    <p:embeddedFont>
      <p:font typeface="나눔스퀘어 Bold" panose="020B0600000101010101" pitchFamily="50" charset="-127"/>
      <p:bold r:id="rId18"/>
    </p:embeddedFont>
    <p:embeddedFont>
      <p:font typeface="나눔스퀘어 ExtraBold" panose="020B0600000101010101" pitchFamily="50" charset="-127"/>
      <p:bold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5771" autoAdjust="0"/>
  </p:normalViewPr>
  <p:slideViewPr>
    <p:cSldViewPr snapToGrid="0">
      <p:cViewPr varScale="1">
        <p:scale>
          <a:sx n="84" d="100"/>
          <a:sy n="84" d="100"/>
        </p:scale>
        <p:origin x="17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8C2F6-2A6C-4993-AE3A-DA4D85D622AD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C0AD0-E84E-4574-9E2B-C21660C21F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176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B742-2F48-FC26-D277-8A1D644CA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3561F9-2917-E83E-37F8-74C4D250D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41CA71-9332-A871-AF8B-38935E303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66302-1989-4322-FA06-40D4EF162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93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6E9F-58A6-03F0-7216-11F6C493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EA630-EEC9-4371-A276-122B36D57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C0C0A-6E42-8451-CC28-BDE12F95B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6BC985-5AC7-9927-1EC5-0B7ECDB60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E78D-CA9D-596E-F9D6-96626DD70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A68500-305F-DA11-1E27-D112BCDF2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1A921F-99E0-4D44-C0E3-25CF5D430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1E8159-EB1D-3DF9-4316-5B09ECAA3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39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93E1-5E03-1F21-EB56-1BC4A2F3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096680-D0B0-AFBF-87CE-261B6EBC0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E29BBF-5C0E-E3D5-3038-34E62CD75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rate (%)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CCUS 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9.3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Expert Survey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(conducted by Sep–Oct 2023 with 8 researchers from Korea)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Hydrogen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12.1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Electrification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6.7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B52529-6BA1-A966-CDBB-7EE002447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15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5ADF7-77CD-7176-FC86-A4D398C6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535AEB-9F79-1DDE-EAB2-4AD5BD8DA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A8DEA-BD0A-1286-A79B-7063BA13C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rate (%)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CCUS 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9.3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Expert Survey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(conducted by Sep–Oct 2023 with 8 researchers from Korea)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Hydrogen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12.1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Electrification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6.7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8C219-14AA-25A1-9A30-B41CDD5BF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6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53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60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56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82B5-E816-717B-1449-41A1DE9F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B78781-4C70-920F-920B-191DEB5ED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665451-0694-3D52-C77A-B7989352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rate (%)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CCUS 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9.3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Expert Survey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(conducted by Sep–Oct 2023 with 8 researchers from Korea)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Hydrogen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12.1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Electrification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6.7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86F206-83E1-8562-54B2-BBA28AA14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69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7791-6204-5C9F-A7D5-BFB9242D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E3CC07-00C4-E04D-5B1C-50586D45B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0C8139-698F-D516-94B0-6372E17BA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rate (%)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CCUS 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9.3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Expert Survey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(conducted by Sep–Oct 2023 with 8 researchers from Korea)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Hydrogen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12.1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Electrification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1" hangingPunct="1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6.7</a:t>
            </a:r>
            <a:endParaRPr lang="ko-KR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B570B2-15C0-D6B5-B2EE-D399C862A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B7EAE-E30B-4702-A4B1-D24961A3FA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41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E6AFA-6C22-431D-A8CF-2562A1616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C8D265-6545-428C-9E1F-DC602975C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1EFBB-A459-499F-814E-6ABC56DA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872D39-6C91-4645-AFD9-91F76791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40420-05E8-4505-BEAE-5069D227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80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1301E-0FA2-450A-B89D-633C3CA4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60EEFE-D819-4133-A54B-ABD8BDB6E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2AFA53-0A0A-4EC9-8D4B-8C825B0AF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29E501-382D-4724-9731-1752303C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342599-6749-4982-B395-5C2AB654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99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30F83-EF72-48D9-B324-920B001F3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C93F54-7A2A-4D81-B3C6-A76731141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50C5D-C062-43F6-B23E-7AD74349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935CB3-A8DF-49F4-9EEB-3ACB4436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87CE0-CDF8-45D3-B15F-F49744E1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37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86F62-77D4-48C9-B3E4-0A91B0C3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6D50B2-2CF9-4CDE-BD33-EAA53580F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58F713-5B2F-4574-80D1-7DE66D63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7DC810-EA48-42C2-88EE-907FEA9D0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D420AD-B362-4497-B2BC-A6AF3CFE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D21240-2ED2-4CE8-A666-D9CC7958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07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1C306-A488-48F2-A025-B978C86B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4560A4-9C70-4447-9126-19FCD13BF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ECE9B8-1A1F-46CE-BA23-30D086B0C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64AEDF4-5E5E-4AF7-A3E5-40F3E4021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CC5003-2EED-4D92-AF79-DC47DD5EB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241422-C243-471D-B9EE-21C5B819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CAB666-CAA8-4DCF-B849-DA08E794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7969DB-3752-4344-A8B3-38E87592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7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B71E98-6803-4B88-8914-9DE93B34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733277-9733-4B01-8F85-BC8E1F7A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61C178-3494-468A-B4D4-3A692E3D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51BBDC-E6AE-4538-B946-64410C95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56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BA9930-AE1C-4E48-8E3A-615BEADE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1FAC98-CDCA-421B-90EA-4C3110C4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4D38F-C504-43BD-B5B9-F60FCDF7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96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5E713-D0FE-4378-8DEC-7560D94A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4C1E87-F05B-4DAE-ACBC-F3BE40E2F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49DDD0-D90C-4F03-A7F9-9E3A049C1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700DBF-F43B-4D8D-AE7C-48D38297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C716B-C36A-4272-9AE3-1B2651CF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030341-3A72-4955-82B7-14148E48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4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0933E-0723-40E8-BCA3-B37CEB08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0AA129-9FA6-4B17-B6F5-33A465E4B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721897-838D-4B1E-863C-EF271465A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F0393-781A-41B8-BD87-2318AA8C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2DDFED-D9BE-450D-81A2-1D3AE1C31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1BEC31-B5F1-4CF2-996A-1B688B23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759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2E304-77D6-4B0A-AB70-6D698F5E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A57BBD-35AF-4535-96A0-7E0E379C8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B71C3-C565-44A7-AFD0-44C68DFB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E8ABC-7206-4F8B-A186-061D8610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90DE1B-A3F5-4006-80B9-10FB2AC4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6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79AA5A-ACC2-4492-988A-710EAA02E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8FB66F-506A-413A-AD31-7DC8A901A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FEC746-F015-457F-90C0-96C181A4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13E3B-D616-4475-A734-45680547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24FF7-DA0A-4F35-864E-6DCE9279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945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BD0684-5CF0-40BE-AA0F-6F30BA40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430458-7D1B-49D7-9CCE-A6316DE88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5FBAA-4128-4937-8537-E45AE0948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E70B-82DB-4B8E-8D92-812AF57114A2}" type="datetimeFigureOut">
              <a:rPr lang="ko-KR" altLang="en-US" smtClean="0"/>
              <a:t>2025-07-03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5D8ED1-AF89-425A-80D1-BF30DBE99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399866-13A5-493A-980B-A4F2B3C10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7DFF2-23BF-431D-AF40-B1708EF3C9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85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1.png"/><Relationship Id="rId12" Type="http://schemas.openxmlformats.org/officeDocument/2006/relationships/image" Target="../media/image90.png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80.png"/><Relationship Id="rId5" Type="http://schemas.openxmlformats.org/officeDocument/2006/relationships/image" Target="../media/image5.emf"/><Relationship Id="rId15" Type="http://schemas.openxmlformats.org/officeDocument/2006/relationships/image" Target="../media/image120.png"/><Relationship Id="rId10" Type="http://schemas.openxmlformats.org/officeDocument/2006/relationships/image" Target="../media/image70.png"/><Relationship Id="rId19" Type="http://schemas.openxmlformats.org/officeDocument/2006/relationships/image" Target="../media/image16.png"/><Relationship Id="rId4" Type="http://schemas.openxmlformats.org/officeDocument/2006/relationships/image" Target="../media/image3.svg"/><Relationship Id="rId1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5.emf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3661756"/>
            <a:ext cx="12192000" cy="2451100"/>
          </a:xfrm>
          <a:prstGeom prst="rect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03562-5048-843F-6D8A-F7B82AC781D4}"/>
              </a:ext>
            </a:extLst>
          </p:cNvPr>
          <p:cNvSpPr txBox="1"/>
          <p:nvPr/>
        </p:nvSpPr>
        <p:spPr>
          <a:xfrm>
            <a:off x="3670301" y="5031452"/>
            <a:ext cx="8310158" cy="8381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>
              <a:lnSpc>
                <a:spcPct val="200000"/>
              </a:lnSpc>
            </a:pPr>
            <a:r>
              <a:rPr kumimoji="1" lang="en-US" altLang="ko-KR" sz="28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[</a:t>
            </a:r>
            <a:r>
              <a:rPr kumimoji="1" lang="ko-KR" altLang="en-US" sz="28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주관</a:t>
            </a:r>
            <a:r>
              <a:rPr kumimoji="1" lang="en-US" altLang="ko-KR" sz="28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2]</a:t>
            </a:r>
            <a:r>
              <a:rPr kumimoji="1" lang="ko-KR" altLang="en-US" sz="28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서울대 연구 수행 내용</a:t>
            </a:r>
            <a:endParaRPr kumimoji="1" lang="en-US" altLang="ko-KR" sz="28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07" y="1383367"/>
            <a:ext cx="4870830" cy="455677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4C3889-BE37-4C2A-D147-ECB84095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474013-A174-42CD-8073-17DE26C9F6E3}" type="slidenum">
              <a:rPr 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833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D4F4-FE29-B41A-C421-9B09EE030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5">
            <a:extLst>
              <a:ext uri="{FF2B5EF4-FFF2-40B4-BE49-F238E27FC236}">
                <a16:creationId xmlns:a16="http://schemas.microsoft.com/office/drawing/2014/main" id="{4CAA03E9-E30F-962B-0099-0C18218A2BAC}"/>
              </a:ext>
            </a:extLst>
          </p:cNvPr>
          <p:cNvSpPr/>
          <p:nvPr/>
        </p:nvSpPr>
        <p:spPr>
          <a:xfrm>
            <a:off x="868983" y="1479590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34AF8-40D2-BBAB-3CF9-1E80E58D854A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2C4CC527-9034-4134-75D6-F6DC4B02804D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144F33-E37D-01A9-FB43-977A130A726F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상향식 철강 산업 모형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6C0DB3-BDCA-68ED-AF97-DD7890DB3AEE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A633432-2DC9-9022-5BB5-0B967DFA0338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024D7B7-E708-844C-E2C1-B8B5632EED9D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C139EB6E-BE2B-34C8-77D8-9AC4BC0606F5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FD7DFFEF-AA0E-7A35-6460-58B54C1DC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1A046C4-8F0D-21BA-AF16-08A038B31033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87BA8B1-B146-DCF7-81D5-BEAA554E42B2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043616AB-D735-7D5B-A2BA-4B40AE74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2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76CED09-EF03-3C6B-FF9F-F1F75B3F6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585" y="2810726"/>
            <a:ext cx="5241520" cy="3287260"/>
          </a:xfrm>
          <a:prstGeom prst="rect">
            <a:avLst/>
          </a:prstGeom>
        </p:spPr>
      </p:pic>
      <p:sp>
        <p:nvSpPr>
          <p:cNvPr id="30" name="사각형: 둥근 모서리 15">
            <a:extLst>
              <a:ext uri="{FF2B5EF4-FFF2-40B4-BE49-F238E27FC236}">
                <a16:creationId xmlns:a16="http://schemas.microsoft.com/office/drawing/2014/main" id="{E8A37404-F8E4-88F2-1B0C-BB5363C4E09E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글로벌 철강 산업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DB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1801722-E071-393E-B9C4-8221F19E95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32" name="모서리가 둥근 직사각형 4">
            <a:extLst>
              <a:ext uri="{FF2B5EF4-FFF2-40B4-BE49-F238E27FC236}">
                <a16:creationId xmlns:a16="http://schemas.microsoft.com/office/drawing/2014/main" id="{C79E9A13-D6C7-1A51-EC30-A531D047C3FB}"/>
              </a:ext>
            </a:extLst>
          </p:cNvPr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DB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구축</a:t>
            </a:r>
          </a:p>
        </p:txBody>
      </p:sp>
      <p:sp>
        <p:nvSpPr>
          <p:cNvPr id="34" name="내용 개체 틀 2">
            <a:extLst>
              <a:ext uri="{FF2B5EF4-FFF2-40B4-BE49-F238E27FC236}">
                <a16:creationId xmlns:a16="http://schemas.microsoft.com/office/drawing/2014/main" id="{88FDBC04-2B8D-A30E-C9B4-B292CB78EBEA}"/>
              </a:ext>
            </a:extLst>
          </p:cNvPr>
          <p:cNvSpPr txBox="1">
            <a:spLocks/>
          </p:cNvSpPr>
          <p:nvPr/>
        </p:nvSpPr>
        <p:spPr>
          <a:xfrm>
            <a:off x="1130361" y="2363531"/>
            <a:ext cx="10417403" cy="355323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철강 산업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DB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는 세부 공정 단계의 구분 없이 하나의 생산 공정으로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총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20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개의 철강 산업 기술을 적용함</a:t>
            </a:r>
            <a:endParaRPr lang="en-US" altLang="ko-KR" sz="120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3FDE969-A03A-0D11-D4A3-C9C822ACD2E2}"/>
              </a:ext>
            </a:extLst>
          </p:cNvPr>
          <p:cNvGrpSpPr/>
          <p:nvPr/>
        </p:nvGrpSpPr>
        <p:grpSpPr>
          <a:xfrm>
            <a:off x="6874764" y="4365057"/>
            <a:ext cx="2552752" cy="1731217"/>
            <a:chOff x="835934" y="3909014"/>
            <a:chExt cx="4210205" cy="2681338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D1F476CA-58D5-40E3-307B-0BEFF97C5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5934" y="3909014"/>
              <a:ext cx="2057400" cy="2667837"/>
            </a:xfrm>
            <a:prstGeom prst="rect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BC098244-327B-BA52-10B2-9BC1AE485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88739" y="3917233"/>
              <a:ext cx="2057400" cy="2673119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</p:pic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DC056B02-0345-2DEC-A582-C5BDC1378F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2157" y="4365058"/>
            <a:ext cx="1703986" cy="172250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1151F65-DCE5-05D0-CAC5-E56DF0560612}"/>
              </a:ext>
            </a:extLst>
          </p:cNvPr>
          <p:cNvSpPr txBox="1"/>
          <p:nvPr/>
        </p:nvSpPr>
        <p:spPr>
          <a:xfrm>
            <a:off x="1251401" y="6140738"/>
            <a:ext cx="5347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&lt;MPP DB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생산 기술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endParaRPr lang="ko-KR" alt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6B2675-888B-300F-591E-A31ED089C7D3}"/>
              </a:ext>
            </a:extLst>
          </p:cNvPr>
          <p:cNvSpPr txBox="1"/>
          <p:nvPr/>
        </p:nvSpPr>
        <p:spPr>
          <a:xfrm>
            <a:off x="7302157" y="6125583"/>
            <a:ext cx="18013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&lt;MPP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철강산업 보고서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endParaRPr lang="ko-KR" alt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11A10F-2910-DEB6-F9D5-4051BD021BBF}"/>
              </a:ext>
            </a:extLst>
          </p:cNvPr>
          <p:cNvSpPr txBox="1"/>
          <p:nvPr/>
        </p:nvSpPr>
        <p:spPr>
          <a:xfrm>
            <a:off x="9246320" y="6116499"/>
            <a:ext cx="2635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세계철강협회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(WSA)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홈페이지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endParaRPr lang="ko-KR" alt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내용 개체 틀 2">
            <a:extLst>
              <a:ext uri="{FF2B5EF4-FFF2-40B4-BE49-F238E27FC236}">
                <a16:creationId xmlns:a16="http://schemas.microsoft.com/office/drawing/2014/main" id="{7BE5D8D8-9882-FBA8-0545-E10B99C59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844" y="2923056"/>
            <a:ext cx="4739557" cy="1232493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MPP: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한국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일본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미국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유럽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인도 등 주요 지역의 철강 생산 기술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기술별 비용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(CAPEX, OPEX),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연료 및 원료 투입량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수명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도입 연도 등 정보 제공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WSA: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국가별 조강 생산량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고로 및 전기로 등 공정별 생산량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원자재 및 조강의 수출입 현황 등 정보 제공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44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D9B44-CADA-AEF6-A517-82CB1742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>
            <a:extLst>
              <a:ext uri="{FF2B5EF4-FFF2-40B4-BE49-F238E27FC236}">
                <a16:creationId xmlns:a16="http://schemas.microsoft.com/office/drawing/2014/main" id="{BC4E3226-59D3-5D89-839E-9F9DF609BF0C}"/>
              </a:ext>
            </a:extLst>
          </p:cNvPr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C6A207EA-09C1-8F73-F946-BF63BEC9F4C9}"/>
              </a:ext>
            </a:extLst>
          </p:cNvPr>
          <p:cNvSpPr/>
          <p:nvPr/>
        </p:nvSpPr>
        <p:spPr>
          <a:xfrm>
            <a:off x="868983" y="1479590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6DB854-6D69-49A0-A4E0-AEAE28A3369F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81B0E2EB-1AAE-B6FD-16CD-26D938D93DA5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F7B393-1DCB-B301-C7F0-FDF24C700700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상향식 철강 산업 모형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C33656E-A4F0-BF16-0503-CA5F6A7D46BE}"/>
              </a:ext>
            </a:extLst>
          </p:cNvPr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모형 개요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481F3C23-DF66-921C-EB78-4274D7AFB609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AEFE69F0-BCB6-0BF4-AEA1-C6F1B7B96083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6B2B35A-98D2-94E2-85AE-3EF2540AED81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865AE1C-AFF3-381C-1752-2B3616DD68E3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021578D-9014-164F-48FA-505B63506323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CB368A-F8B2-6330-0C2A-8364680B303C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AB3622B9-0935-3C10-9A16-C48E68DEF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9ADA70F-5123-51E7-5C2E-252301682D1D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9D685C3-3EED-39CD-A532-5F4BC3EE5AD2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6525D378-DBFB-230E-22DD-02CDCE4A5931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글로벌 철강 산업 상향식 모형 구조 개요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2485FD-E923-2B1F-0AE5-DFB214998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C43734AD-599F-E4C7-A571-7D1B305E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3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F823CA4-257F-7465-D2BD-467793E03ED3}"/>
              </a:ext>
            </a:extLst>
          </p:cNvPr>
          <p:cNvGrpSpPr/>
          <p:nvPr/>
        </p:nvGrpSpPr>
        <p:grpSpPr>
          <a:xfrm>
            <a:off x="1683404" y="2883498"/>
            <a:ext cx="9311315" cy="1590841"/>
            <a:chOff x="1679657" y="2349272"/>
            <a:chExt cx="9311315" cy="1590841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309BCD07-846A-8122-A3E9-21E02CA4F2FC}"/>
                </a:ext>
              </a:extLst>
            </p:cNvPr>
            <p:cNvGrpSpPr/>
            <p:nvPr/>
          </p:nvGrpSpPr>
          <p:grpSpPr>
            <a:xfrm>
              <a:off x="1679657" y="2349272"/>
              <a:ext cx="9311315" cy="1590841"/>
              <a:chOff x="1577709" y="2364541"/>
              <a:chExt cx="9410980" cy="3449474"/>
            </a:xfrm>
            <a:solidFill>
              <a:schemeClr val="bg2"/>
            </a:solidFill>
          </p:grpSpPr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F584C6B8-4EBE-6780-D55D-48C23DB4655B}"/>
                  </a:ext>
                </a:extLst>
              </p:cNvPr>
              <p:cNvSpPr/>
              <p:nvPr/>
            </p:nvSpPr>
            <p:spPr>
              <a:xfrm>
                <a:off x="2930148" y="2368264"/>
                <a:ext cx="8058541" cy="3445751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ko-KR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D4C5EBDD-BC4F-57DE-7B19-DD01E5B2DC93}"/>
                  </a:ext>
                </a:extLst>
              </p:cNvPr>
              <p:cNvSpPr/>
              <p:nvPr/>
            </p:nvSpPr>
            <p:spPr>
              <a:xfrm>
                <a:off x="1577709" y="2364541"/>
                <a:ext cx="1248157" cy="3445751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PMP </a:t>
                </a:r>
              </a:p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적용을 위한 </a:t>
                </a:r>
                <a:endParaRPr lang="en-US" altLang="ko-KR" sz="12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목적함수 전환</a:t>
                </a: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F149147-5572-9D6F-CC5C-59F18DE0D948}"/>
                </a:ext>
              </a:extLst>
            </p:cNvPr>
            <p:cNvGrpSpPr/>
            <p:nvPr/>
          </p:nvGrpSpPr>
          <p:grpSpPr>
            <a:xfrm>
              <a:off x="2770698" y="2400399"/>
              <a:ext cx="8007310" cy="1449968"/>
              <a:chOff x="732432" y="4870015"/>
              <a:chExt cx="8007310" cy="1449968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252E84E-FE52-4F2F-E2DF-3BC13CD98870}"/>
                  </a:ext>
                </a:extLst>
              </p:cNvPr>
              <p:cNvSpPr/>
              <p:nvPr/>
            </p:nvSpPr>
            <p:spPr>
              <a:xfrm>
                <a:off x="5940153" y="5923766"/>
                <a:ext cx="1080120" cy="31354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6A05B9A-E1A4-9C12-D020-1BB96957DD7C}"/>
                  </a:ext>
                </a:extLst>
              </p:cNvPr>
              <p:cNvSpPr/>
              <p:nvPr/>
            </p:nvSpPr>
            <p:spPr>
              <a:xfrm>
                <a:off x="6214219" y="5550570"/>
                <a:ext cx="1742157" cy="2880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FCE3C9-ADF3-3C99-7A9C-D4A807E2AE0E}"/>
                  </a:ext>
                </a:extLst>
              </p:cNvPr>
              <p:cNvSpPr txBox="1"/>
              <p:nvPr/>
            </p:nvSpPr>
            <p:spPr>
              <a:xfrm>
                <a:off x="7164288" y="5877272"/>
                <a:ext cx="73424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i="1" dirty="0">
                    <a:solidFill>
                      <a:schemeClr val="accent2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change</a:t>
                </a:r>
                <a:r>
                  <a:rPr lang="ko-KR" altLang="en-US" sz="1000" dirty="0">
                    <a:solidFill>
                      <a:schemeClr val="accent2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808827F7-4077-DD20-12BD-E3FE000627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92280" y="5877272"/>
                <a:ext cx="195403" cy="178111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2F2F12D-1489-2D22-E56B-AE442A7884DD}"/>
                      </a:ext>
                    </a:extLst>
                  </p:cNvPr>
                  <p:cNvSpPr txBox="1"/>
                  <p:nvPr/>
                </p:nvSpPr>
                <p:spPr>
                  <a:xfrm>
                    <a:off x="732432" y="4870015"/>
                    <a:ext cx="7632848" cy="136729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buClr>
                        <a:srgbClr val="274277"/>
                      </a:buClr>
                    </a:pPr>
                    <a:endParaRPr lang="en-US" altLang="ko-KR" sz="1400" dirty="0">
                      <a:solidFill>
                        <a:prstClr val="black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Noto Sans Limbu" panose="020B0502040504020204" pitchFamily="34" charset="0"/>
                    </a:endParaRPr>
                  </a:p>
                  <a:p>
                    <a:pPr algn="ctr">
                      <a:buClr>
                        <a:srgbClr val="274277"/>
                      </a:buClr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 dirty="0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dirty="0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     </m:t>
                            </m:r>
                            <m:r>
                              <a:rPr lang="en-US" altLang="ko-KR" sz="1200" b="0" i="1" dirty="0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𝑐𝑜𝑠𝑡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𝑥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,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𝑦</m:t>
                            </m:r>
                          </m:sub>
                        </m:sSub>
                      </m:oMath>
                    </a14:m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 = fixed cost</a:t>
                    </a:r>
                    <a:r>
                      <a: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 </a:t>
                    </a:r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+ operating cost+ fuel cost</a:t>
                    </a:r>
                    <a:r>
                      <a: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 </a:t>
                    </a:r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+ carbon cost</a:t>
                    </a:r>
                  </a:p>
                  <a:p>
                    <a:pPr algn="ctr">
                      <a:lnSpc>
                        <a:spcPct val="150000"/>
                      </a:lnSpc>
                      <a:buClr>
                        <a:srgbClr val="274277"/>
                      </a:buClr>
                    </a:pPr>
                    <a:endParaRPr lang="en-US" altLang="ko-KR" sz="1200" i="1" dirty="0"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Noto Sans Limbu" panose="020B0502040504020204" pitchFamily="34" charset="0"/>
                    </a:endParaRPr>
                  </a:p>
                  <a:p>
                    <a:pPr algn="ctr">
                      <a:buClr>
                        <a:srgbClr val="274277"/>
                      </a:buClr>
                    </a:pPr>
                    <a14:m>
                      <m:oMath xmlns:m="http://schemas.openxmlformats.org/officeDocument/2006/math"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  <a:cs typeface="Noto Sans Limbu" panose="020B0502040504020204" pitchFamily="34" charset="0"/>
                          </a:rPr>
                          <m:t>                                         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𝑚</m:t>
                            </m:r>
                            <m:r>
                              <a:rPr lang="en-US" altLang="ko-KR" sz="1200" b="0" i="1" dirty="0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𝑎𝑥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𝑥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,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𝑦</m:t>
                            </m:r>
                          </m:sub>
                        </m:sSub>
                      </m:oMath>
                    </a14:m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profit = revenue – (fixed cost</a:t>
                    </a:r>
                    <a:r>
                      <a: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 </a:t>
                    </a:r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+ operating cost+ fuel cost</a:t>
                    </a:r>
                    <a:r>
                      <a: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 </a:t>
                    </a:r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+ carbon cost)</a:t>
                    </a:r>
                  </a:p>
                  <a:p>
                    <a:pPr algn="ctr">
                      <a:buClr>
                        <a:srgbClr val="274277"/>
                      </a:buClr>
                    </a:pPr>
                    <a:endParaRPr lang="en-US" altLang="ko-KR" sz="1200" dirty="0"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Noto Sans Limbu" panose="020B0502040504020204" pitchFamily="34" charset="0"/>
                    </a:endParaRPr>
                  </a:p>
                  <a:p>
                    <a:pPr algn="ctr">
                      <a:buClr>
                        <a:srgbClr val="274277"/>
                      </a:buClr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 dirty="0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dirty="0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  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𝑚𝑎𝑥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𝑥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,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  <a:cs typeface="Noto Sans Limbu" panose="020B0502040504020204" pitchFamily="34" charset="0"/>
                              </a:rPr>
                              <m:t>𝑦</m:t>
                            </m:r>
                          </m:sub>
                        </m:sSub>
                      </m:oMath>
                    </a14:m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profit = revenue – (fixed cost</a:t>
                    </a:r>
                    <a:r>
                      <a: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 </a:t>
                    </a:r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+ operating cost</a:t>
                    </a:r>
                    <a:r>
                      <a:rPr lang="ko-KR" altLang="en-US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 </a:t>
                    </a:r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+ (</a:t>
                    </a:r>
                    <a:r>
                      <a:rPr lang="en-US" altLang="ko-KR" sz="1200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d</a:t>
                    </a:r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+0.5*</a:t>
                    </a:r>
                    <a:r>
                      <a:rPr lang="en-US" altLang="ko-KR" sz="1200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e</a:t>
                    </a:r>
                    <a:r>
                      <a:rPr lang="en-US" altLang="ko-KR" sz="12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oto Sans Limbu" panose="020B0502040504020204" pitchFamily="34" charset="0"/>
                      </a:rPr>
                      <a:t>*x)x )</a:t>
                    </a: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2F2F12D-1489-2D22-E56B-AE442A7884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2432" y="4870015"/>
                    <a:ext cx="7632848" cy="136729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77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D81CAA-B810-4965-E13F-0BD5B5A00F5D}"/>
                  </a:ext>
                </a:extLst>
              </p:cNvPr>
              <p:cNvSpPr txBox="1"/>
              <p:nvPr/>
            </p:nvSpPr>
            <p:spPr>
              <a:xfrm>
                <a:off x="7587614" y="6104539"/>
                <a:ext cx="1152128" cy="2154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txBody>
              <a:bodyPr wrap="square" rtlCol="0" anchor="b">
                <a:spAutoFit/>
              </a:bodyPr>
              <a:lstStyle/>
              <a:p>
                <a:pPr algn="ctr"/>
                <a:r>
                  <a:rPr lang="en-US" altLang="ko-KR" sz="8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* PMP cost term</a:t>
                </a:r>
                <a:endParaRPr lang="ko-KR" altLang="en-US" sz="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</p:grpSp>
      <p:sp>
        <p:nvSpPr>
          <p:cNvPr id="47" name="내용 개체 틀 2">
            <a:extLst>
              <a:ext uri="{FF2B5EF4-FFF2-40B4-BE49-F238E27FC236}">
                <a16:creationId xmlns:a16="http://schemas.microsoft.com/office/drawing/2014/main" id="{31BB06B1-111D-10D9-E58D-50586A085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361" y="2376465"/>
            <a:ext cx="10417403" cy="384973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>
            <a:noAutofit/>
          </a:bodyPr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Positive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Mathematical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Programming (PMP)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 기법 적용을 위해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기본적인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LP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모형의 목적함수 일부를 이차항으로 변환함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나눔스퀘어" panose="020B0600000101010101" pitchFamily="50" charset="-127"/>
            </a:endParaRPr>
          </a:p>
        </p:txBody>
      </p:sp>
      <p:sp>
        <p:nvSpPr>
          <p:cNvPr id="48" name="내용 개체 틀 2">
            <a:extLst>
              <a:ext uri="{FF2B5EF4-FFF2-40B4-BE49-F238E27FC236}">
                <a16:creationId xmlns:a16="http://schemas.microsoft.com/office/drawing/2014/main" id="{81FDF675-EA01-53A4-9C2D-0F8125E4023E}"/>
              </a:ext>
            </a:extLst>
          </p:cNvPr>
          <p:cNvSpPr txBox="1">
            <a:spLocks/>
          </p:cNvSpPr>
          <p:nvPr/>
        </p:nvSpPr>
        <p:spPr>
          <a:xfrm>
            <a:off x="1103158" y="4691335"/>
            <a:ext cx="10417403" cy="1400113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indent="-864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아래와 같은 가정 하에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철강 부문에서의 탄소 감축 기술 확산을 한국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일본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미국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EU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지역에 대해 분석함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 효과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철강 업종의 전문가 설문을 통해 국가별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CCUS,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전기화 등의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학습률을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도출하고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학습효과 적용 시나리오 및 미적용 시나리오를 비교 분석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배출 감축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2025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년부터 매년 온실가스 배출량이 일정하게 감소한다고 가정하고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2050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년에는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대비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70%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감축을 목표로 설정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+mj-lt"/>
              <a:buAutoNum type="arabicParenR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CCUS: CCUS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기술은 최대 생산 기술의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이내에서 적용 가능한 것으로 제한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기타 가정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전기로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(EAF)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기술에서 사용되는 고철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스크랩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양을 제한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신기술의 연간 최대 도입 용량 제한 등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95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98303-75B9-85BB-E472-591D7593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>
            <a:extLst>
              <a:ext uri="{FF2B5EF4-FFF2-40B4-BE49-F238E27FC236}">
                <a16:creationId xmlns:a16="http://schemas.microsoft.com/office/drawing/2014/main" id="{DBF3A548-08F5-9AAD-66B7-8C67DE0624FD}"/>
              </a:ext>
            </a:extLst>
          </p:cNvPr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3D728706-4CB6-12D4-5838-09F444013A0E}"/>
              </a:ext>
            </a:extLst>
          </p:cNvPr>
          <p:cNvSpPr/>
          <p:nvPr/>
        </p:nvSpPr>
        <p:spPr>
          <a:xfrm>
            <a:off x="868983" y="1479590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0C0D86-CE53-9CB4-3D7C-7C41C78162DA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1CB5CC31-84DD-96C3-33AC-92EBB14EB2CA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98E52-7521-C8D2-D85B-D6C47F5F8936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상향식 철강 산업 모형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B4AA096-1C9A-19FC-EC5A-7570F8AF3F90}"/>
              </a:ext>
            </a:extLst>
          </p:cNvPr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모형 개요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FDFE322B-72A9-0C78-4C2F-DBCCB9F70A7C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B1528414-8935-A6BB-372F-2F175473111B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071B472-0BE1-FACB-1E76-A24563ED0451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229DDDCD-BE5A-0934-BBA3-504A47ED3270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D50604F-B541-97CB-9A93-0336874D0CD4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DE00C3B-E23C-AFA7-2F26-694DE1528C2D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64D17BD0-27A2-0146-BE9D-566A5FFFB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7D4F11-E478-2544-CCC3-E952AD8BE6C6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3A28121-E01A-DF23-CF55-7540914ACD13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B07F15CE-298A-37C3-83EC-6E3743B31D58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학습효과 적용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14865B5-02A4-85CB-7B4B-7E7EA102B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6720C5DB-5B0E-B595-A343-36C7B68F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4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내용 개체 틀 2">
            <a:extLst>
              <a:ext uri="{FF2B5EF4-FFF2-40B4-BE49-F238E27FC236}">
                <a16:creationId xmlns:a16="http://schemas.microsoft.com/office/drawing/2014/main" id="{9BFBBE98-C229-7B55-07DD-2DB8AAEE57E9}"/>
              </a:ext>
            </a:extLst>
          </p:cNvPr>
          <p:cNvSpPr txBox="1">
            <a:spLocks/>
          </p:cNvSpPr>
          <p:nvPr/>
        </p:nvSpPr>
        <p:spPr>
          <a:xfrm>
            <a:off x="1130361" y="2372376"/>
            <a:ext cx="10417403" cy="859712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indent="-864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신기술의 비용 변화를 반영하기 위한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Learning Curve Equation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Wright(1936)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이론을 기반으로 적용함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모형의 모든 비용 구성요소에 대해 적용되며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시간에 따른 산업의 잠재적 비용 감소를 추정함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(Learning rate, LR):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누적 생산량이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배가 될 때마다 비용이 얼마나 감소하는지를 백분율로 나타내며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철강 산업 부문의 전문가 설문을 통해 도출함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CC4632E-DBEE-7AF8-1E73-048D656BAB70}"/>
              </a:ext>
            </a:extLst>
          </p:cNvPr>
          <p:cNvSpPr/>
          <p:nvPr/>
        </p:nvSpPr>
        <p:spPr>
          <a:xfrm>
            <a:off x="1177669" y="3416831"/>
            <a:ext cx="5458265" cy="2878569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ko-KR" sz="9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7A96DF-720A-49A1-A989-498357A90C88}"/>
                  </a:ext>
                </a:extLst>
              </p:cNvPr>
              <p:cNvSpPr txBox="1"/>
              <p:nvPr/>
            </p:nvSpPr>
            <p:spPr>
              <a:xfrm>
                <a:off x="953360" y="4956905"/>
                <a:ext cx="5458265" cy="1242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8650" marR="0" lvl="1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277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ko-KR" altLang="ko-KR" sz="10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𝐶𝐴𝑃𝐸𝑋</m:t>
                        </m:r>
                      </m:e>
                      <m:sub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𝐿𝑅</m:t>
                        </m:r>
                      </m:sub>
                    </m:sSub>
                  </m:oMath>
                </a14:m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Noto Sans Limbu" panose="020B0502040504020204" pitchFamily="34" charset="0"/>
                  </a:rPr>
                  <a:t>: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</a:rPr>
                  <a:t>Capital expenditure reflecting the learning effect</a:t>
                </a:r>
                <a:endParaRPr kumimoji="0" lang="en-US" altLang="ko-KR" sz="1000" b="0" i="1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808650" marR="0" lvl="1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277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ko-KR" sz="10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𝐶𝐴𝑃𝐸</m:t>
                    </m:r>
                    <m:sSub>
                      <m:sSubPr>
                        <m:ctrlPr>
                          <a:rPr kumimoji="0" lang="ko-KR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kumimoji="0" lang="en-US" altLang="ko-KR" sz="10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𝑏𝑎𝑠𝑒</m:t>
                        </m:r>
                      </m:sub>
                    </m:sSub>
                  </m:oMath>
                </a14:m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Noto Sans Limbu" panose="020B0502040504020204" pitchFamily="34" charset="0"/>
                  </a:rPr>
                  <a:t>: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</a:rPr>
                  <a:t>Capital expenditure data from the MPP database</a:t>
                </a:r>
              </a:p>
              <a:p>
                <a:pPr marL="808650" marR="0" lvl="1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277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𝑐𝑢𝑚𝑢𝑙𝑎𝑡𝑖𝑣𝑒</m:t>
                        </m:r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𝑝𝑟𝑜𝑑𝑢𝑐𝑡</m:t>
                        </m:r>
                      </m:e>
                      <m:sub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𝑡𝑒𝑐h</m:t>
                        </m:r>
                      </m:sup>
                    </m:sSubSup>
                    <m:r>
                      <a:rPr kumimoji="0" lang="en-US" altLang="ko-KR" sz="1000" b="0" i="0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Noto Sans Limbu" panose="020B0502040504020204" pitchFamily="34" charset="0"/>
                  </a:rPr>
                  <a:t> 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</a:rPr>
                  <a:t>Cumulative production of each technology at time </a:t>
                </a:r>
                <a:r>
                  <a:rPr kumimoji="0" lang="en-US" altLang="ko-KR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</a:rPr>
                  <a:t>t</a:t>
                </a:r>
              </a:p>
              <a:p>
                <a:pPr marL="808650" marR="0" lvl="1" indent="-1714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4277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𝑏𝑎𝑠𝑒𝑙𝑖𝑛𝑒</m:t>
                        </m:r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𝑝𝑟𝑜𝑑𝑢𝑐𝑡</m:t>
                        </m:r>
                      </m:e>
                      <m:sub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kumimoji="0" lang="en-US" altLang="ko-KR" sz="10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kumimoji="0" lang="en-US" altLang="ko-KR" sz="10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𝑡𝑒𝑐h</m:t>
                        </m:r>
                      </m:sup>
                    </m:sSubSup>
                  </m:oMath>
                </a14:m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Noto Sans Limbu" panose="020B0502040504020204" pitchFamily="34" charset="0"/>
                  </a:rPr>
                  <a:t>: Baseline production level of each technology at its initial adoption period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7A96DF-720A-49A1-A989-498357A90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360" y="4956905"/>
                <a:ext cx="5458265" cy="1242520"/>
              </a:xfrm>
              <a:prstGeom prst="rect">
                <a:avLst/>
              </a:prstGeom>
              <a:blipFill>
                <a:blip r:embed="rId6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B067B5-67FF-C650-495B-763B06398E67}"/>
                  </a:ext>
                </a:extLst>
              </p:cNvPr>
              <p:cNvSpPr txBox="1"/>
              <p:nvPr/>
            </p:nvSpPr>
            <p:spPr>
              <a:xfrm>
                <a:off x="990446" y="3679307"/>
                <a:ext cx="5869797" cy="1235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5" algn="just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𝐿𝑅</m:t>
                      </m:r>
                      <m:r>
                        <a:rPr lang="en-US" altLang="ko-KR" sz="1100" i="1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=1−</m:t>
                      </m:r>
                      <m:r>
                        <a:rPr lang="en-US" altLang="ko-KR" sz="1100" i="1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𝑃𝑅</m:t>
                      </m:r>
                    </m:oMath>
                  </m:oMathPara>
                </a14:m>
                <a:endParaRPr lang="en-US" altLang="ko-KR" sz="1100" i="1" kern="100" dirty="0">
                  <a:effectLst/>
                  <a:latin typeface="Cambria Math" panose="020405030504060302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5" algn="just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𝑃𝑅</m:t>
                      </m:r>
                      <m:r>
                        <a:rPr lang="en-US" altLang="ko-KR" sz="11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ko-KR" altLang="ko-KR" sz="11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ko-KR" sz="11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1100" i="1" kern="100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ko-KR" sz="1100" i="1" kern="100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ko-KR" altLang="ko-KR" sz="1100" kern="100" dirty="0">
                  <a:effectLst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2" algn="ctr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11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𝐶𝐴𝑃𝐸𝑋</m:t>
                          </m:r>
                        </m:e>
                        <m:sub>
                          <m:r>
                            <a:rPr lang="en-US" altLang="ko-KR" sz="11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𝐿𝑅</m:t>
                          </m:r>
                        </m:sub>
                      </m:sSub>
                      <m:r>
                        <a:rPr lang="en-US" altLang="ko-KR" sz="11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sz="11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𝐶𝐴𝑃𝐸</m:t>
                      </m:r>
                      <m:sSub>
                        <m:sSubPr>
                          <m:ctrlPr>
                            <a:rPr lang="ko-KR" altLang="ko-KR" sz="11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100" b="0" i="1" kern="100" smtClean="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𝑏𝑎𝑠𝑒</m:t>
                          </m:r>
                        </m:sub>
                      </m:sSub>
                      <m:r>
                        <a:rPr lang="en-US" altLang="ko-KR" sz="11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ko-KR" altLang="ko-KR" sz="11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ko-KR" altLang="ko-KR" sz="11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ko-KR" sz="1100" i="1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10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100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𝑐𝑢𝑚𝑢𝑙𝑎𝑡𝑖𝑣𝑒</m:t>
                                      </m:r>
                                      <m:r>
                                        <a:rPr lang="en-US" altLang="ko-KR" sz="1100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ko-KR" sz="1100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𝑝𝑟𝑜𝑑𝑢𝑐𝑡</m:t>
                                      </m:r>
                                    </m:e>
                                    <m:sub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𝑛𝑒𝑤</m:t>
                                      </m:r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𝑡𝑒𝑐h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1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  </m:t>
                                  </m:r>
                                  <m:sSubSup>
                                    <m:sSubSupPr>
                                      <m:ctrlPr>
                                        <a:rPr lang="en-US" altLang="ko-KR" sz="110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100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𝑏𝑎𝑠𝑒𝑙𝑖𝑛𝑒</m:t>
                                      </m:r>
                                      <m:r>
                                        <a:rPr lang="en-US" altLang="ko-KR" sz="1100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ko-KR" sz="1100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𝑝𝑟𝑜𝑑𝑢𝑐𝑡</m:t>
                                      </m:r>
                                    </m:e>
                                    <m:sub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𝑛𝑒𝑤</m:t>
                                      </m:r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ko-KR" sz="11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𝑡𝑒𝑐h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ko-KR" sz="1100" i="1" kern="100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ko-KR" sz="1100" i="1" kern="100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B067B5-67FF-C650-495B-763B06398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46" y="3679307"/>
                <a:ext cx="5869797" cy="12350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">
            <a:extLst>
              <a:ext uri="{FF2B5EF4-FFF2-40B4-BE49-F238E27FC236}">
                <a16:creationId xmlns:a16="http://schemas.microsoft.com/office/drawing/2014/main" id="{87CC2C09-2D6A-9347-1316-1BE37DB3B545}"/>
              </a:ext>
            </a:extLst>
          </p:cNvPr>
          <p:cNvSpPr txBox="1"/>
          <p:nvPr/>
        </p:nvSpPr>
        <p:spPr>
          <a:xfrm>
            <a:off x="7375490" y="5578165"/>
            <a:ext cx="3694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기술별 추정 </a:t>
            </a:r>
            <a:r>
              <a:rPr lang="ko-KR" altLang="en-US" sz="1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학습률</a:t>
            </a: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AF754EB-8323-4381-9F12-1E3A626B8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67979"/>
              </p:ext>
            </p:extLst>
          </p:nvPr>
        </p:nvGraphicFramePr>
        <p:xfrm>
          <a:off x="6900844" y="4102100"/>
          <a:ext cx="4707748" cy="1376190"/>
        </p:xfrm>
        <a:graphic>
          <a:graphicData uri="http://schemas.openxmlformats.org/drawingml/2006/table">
            <a:tbl>
              <a:tblPr/>
              <a:tblGrid>
                <a:gridCol w="1113969">
                  <a:extLst>
                    <a:ext uri="{9D8B030D-6E8A-4147-A177-3AD203B41FA5}">
                      <a16:colId xmlns:a16="http://schemas.microsoft.com/office/drawing/2014/main" val="4072070004"/>
                    </a:ext>
                  </a:extLst>
                </a:gridCol>
                <a:gridCol w="597718">
                  <a:extLst>
                    <a:ext uri="{9D8B030D-6E8A-4147-A177-3AD203B41FA5}">
                      <a16:colId xmlns:a16="http://schemas.microsoft.com/office/drawing/2014/main" val="2924654726"/>
                    </a:ext>
                  </a:extLst>
                </a:gridCol>
                <a:gridCol w="998687">
                  <a:extLst>
                    <a:ext uri="{9D8B030D-6E8A-4147-A177-3AD203B41FA5}">
                      <a16:colId xmlns:a16="http://schemas.microsoft.com/office/drawing/2014/main" val="1194669257"/>
                    </a:ext>
                  </a:extLst>
                </a:gridCol>
                <a:gridCol w="998687">
                  <a:extLst>
                    <a:ext uri="{9D8B030D-6E8A-4147-A177-3AD203B41FA5}">
                      <a16:colId xmlns:a16="http://schemas.microsoft.com/office/drawing/2014/main" val="1967847919"/>
                    </a:ext>
                  </a:extLst>
                </a:gridCol>
                <a:gridCol w="998687">
                  <a:extLst>
                    <a:ext uri="{9D8B030D-6E8A-4147-A177-3AD203B41FA5}">
                      <a16:colId xmlns:a16="http://schemas.microsoft.com/office/drawing/2014/main" val="952709270"/>
                    </a:ext>
                  </a:extLst>
                </a:gridCol>
              </a:tblGrid>
              <a:tr h="26663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5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기술 구분</a:t>
                      </a:r>
                      <a:endParaRPr lang="en-US" sz="75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5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평균</a:t>
                      </a:r>
                      <a:endParaRPr lang="en-US" sz="75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5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한국</a:t>
                      </a:r>
                      <a:endParaRPr lang="en-US" sz="75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5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중국</a:t>
                      </a:r>
                      <a:endParaRPr lang="en-US" sz="75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5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일본</a:t>
                      </a:r>
                      <a:endParaRPr lang="en-US" altLang="ko-KR" sz="75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870636"/>
                  </a:ext>
                </a:extLst>
              </a:tr>
              <a:tr h="2773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CCUS</a:t>
                      </a: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11.0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9.3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8.7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9.5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276701"/>
                  </a:ext>
                </a:extLst>
              </a:tr>
              <a:tr h="27738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수소 주입 및 환원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12.5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15.0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13.4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14.4</a:t>
                      </a:r>
                      <a:endParaRPr lang="ko-KR" altLang="en-US" sz="75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679469"/>
                  </a:ext>
                </a:extLst>
              </a:tr>
              <a:tr h="27738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전기화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6.0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6.0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7.0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7.0</a:t>
                      </a:r>
                      <a:endParaRPr lang="ko-KR" altLang="en-US" sz="75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899612"/>
                  </a:ext>
                </a:extLst>
              </a:tr>
              <a:tr h="27738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기타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바이오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9.8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10.1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9.7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10.3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74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6A564-402F-F81F-2C44-080D2792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>
            <a:extLst>
              <a:ext uri="{FF2B5EF4-FFF2-40B4-BE49-F238E27FC236}">
                <a16:creationId xmlns:a16="http://schemas.microsoft.com/office/drawing/2014/main" id="{707D84C1-F827-3F94-9071-9A7C20ECA60B}"/>
              </a:ext>
            </a:extLst>
          </p:cNvPr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3523F238-E4E5-682F-12E1-053FC56C7B22}"/>
              </a:ext>
            </a:extLst>
          </p:cNvPr>
          <p:cNvSpPr/>
          <p:nvPr/>
        </p:nvSpPr>
        <p:spPr>
          <a:xfrm>
            <a:off x="841822" y="1471881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2B72E5-77E0-2EC1-04C1-734ADEAD59C5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8D1ED7EA-1E23-BBDE-91C3-75223A891244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330B3-1ED3-BE86-2A95-21E6EBB4E302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상향식 철강 산업 모형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B9B4E77-5544-EACE-1EB8-A22729B27AE3}"/>
              </a:ext>
            </a:extLst>
          </p:cNvPr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시나리오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343076AC-C90F-0950-10C5-EE3158E97FC9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5EC79F76-23C1-B180-B05E-73A008AE29E3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88DB5F9-1D88-F10E-5DC5-CA4A29E1F52F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5D7FCFD-DF8D-A63F-E53E-F8B187BDB48E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BE79166-1141-C3E9-3FCA-37C3DB5ABFC4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819D5F9-F069-C0FB-0BF3-FFE621526012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25FCED8E-134A-1236-551E-C805E138E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FDCC69-F348-8394-207D-85F16887FD0C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E8CF97F-1D2F-DC1D-3198-FE872112E4B5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2F16944A-C333-E4AA-A61E-D8BAEACC5FBA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철강 산업 시나리오 구성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3E330E1-3668-391E-9744-5047EF2D3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3771C16D-7F9E-F113-82C3-F7E0EF69C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5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1958413-FEE6-E7B0-EE12-4E6BAF9E7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157211"/>
              </p:ext>
            </p:extLst>
          </p:nvPr>
        </p:nvGraphicFramePr>
        <p:xfrm>
          <a:off x="2121729" y="2420112"/>
          <a:ext cx="8434666" cy="2336790"/>
        </p:xfrm>
        <a:graphic>
          <a:graphicData uri="http://schemas.openxmlformats.org/drawingml/2006/table">
            <a:tbl>
              <a:tblPr/>
              <a:tblGrid>
                <a:gridCol w="3178240">
                  <a:extLst>
                    <a:ext uri="{9D8B030D-6E8A-4147-A177-3AD203B41FA5}">
                      <a16:colId xmlns:a16="http://schemas.microsoft.com/office/drawing/2014/main" val="2970656126"/>
                    </a:ext>
                  </a:extLst>
                </a:gridCol>
                <a:gridCol w="1752142">
                  <a:extLst>
                    <a:ext uri="{9D8B030D-6E8A-4147-A177-3AD203B41FA5}">
                      <a16:colId xmlns:a16="http://schemas.microsoft.com/office/drawing/2014/main" val="3366891252"/>
                    </a:ext>
                  </a:extLst>
                </a:gridCol>
                <a:gridCol w="1752142">
                  <a:extLst>
                    <a:ext uri="{9D8B030D-6E8A-4147-A177-3AD203B41FA5}">
                      <a16:colId xmlns:a16="http://schemas.microsoft.com/office/drawing/2014/main" val="3066203830"/>
                    </a:ext>
                  </a:extLst>
                </a:gridCol>
                <a:gridCol w="1752142">
                  <a:extLst>
                    <a:ext uri="{9D8B030D-6E8A-4147-A177-3AD203B41FA5}">
                      <a16:colId xmlns:a16="http://schemas.microsoft.com/office/drawing/2014/main" val="1605184812"/>
                    </a:ext>
                  </a:extLst>
                </a:gridCol>
              </a:tblGrid>
              <a:tr h="71010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시나리오 분류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배출량 감축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학습률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적용 여부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수요 증감</a:t>
                      </a:r>
                      <a:b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(BAU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는 </a:t>
                      </a: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‘20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년 대비 </a:t>
                      </a:r>
                      <a:endParaRPr lang="en-US" altLang="ko-KR" sz="110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‘50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년 </a:t>
                      </a: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30% 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증가</a:t>
                      </a: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46783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BAU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시나리오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X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X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BAU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37840"/>
                  </a:ext>
                </a:extLst>
              </a:tr>
              <a:tr h="4066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Net-Zero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시나리오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70%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X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BAU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92458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Net-Zero +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기술 변화 시나리오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70%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O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BAU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378462"/>
                  </a:ext>
                </a:extLst>
              </a:tr>
              <a:tr h="4066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Net-Zero +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기술 변화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+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수요 관리 시나리오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70%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O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BAU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대비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10%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감소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169683"/>
                  </a:ext>
                </a:extLst>
              </a:tr>
            </a:tbl>
          </a:graphicData>
        </a:graphic>
      </p:graphicFrame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4D142649-5082-EB7C-3CEF-B9E96848B6D2}"/>
              </a:ext>
            </a:extLst>
          </p:cNvPr>
          <p:cNvSpPr txBox="1">
            <a:spLocks/>
          </p:cNvSpPr>
          <p:nvPr/>
        </p:nvSpPr>
        <p:spPr>
          <a:xfrm>
            <a:off x="1130360" y="5039982"/>
            <a:ext cx="10417403" cy="1164126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indent="-864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모형에서 설정한 다양한 제약 조건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(CCUS,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스크랩 공급량 제약 등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 추정된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학습률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등을 고려하여 위 표와 같은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가지 시나리오를 구성함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주어진 조건 하에서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’50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년까지 배출량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100%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감축의 완전한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Net-Zero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시나리오는 구성하기 어려우므로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높은 수준으로 설정할 수 있는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70%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감축을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Net-Zero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시나리오로 설정함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 수요 전망에 대한 조사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(IEA, 2021)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통해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BAU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시나리오의 기본 설정에서 수요는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‘50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년까지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‘20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대비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30%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증가하는 것을 기준으로 결정함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198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07C3-D8FC-F7E5-00F2-FC6CA049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>
            <a:extLst>
              <a:ext uri="{FF2B5EF4-FFF2-40B4-BE49-F238E27FC236}">
                <a16:creationId xmlns:a16="http://schemas.microsoft.com/office/drawing/2014/main" id="{FD5FE129-8DE8-60DC-08B3-D660E78676E3}"/>
              </a:ext>
            </a:extLst>
          </p:cNvPr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B229FE1F-C7B4-E68E-41B7-64F100E02C3F}"/>
              </a:ext>
            </a:extLst>
          </p:cNvPr>
          <p:cNvSpPr/>
          <p:nvPr/>
        </p:nvSpPr>
        <p:spPr>
          <a:xfrm>
            <a:off x="841822" y="1494601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DDC953-DAC0-25F8-10B1-0028DD9C8186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148EE282-8877-8671-6AD2-FFB72106E999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044C42-BECA-40BA-C599-0C44A8953C37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상향식 철강 산업 모형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424132C-03B8-190A-E6FF-2F3262772D23}"/>
              </a:ext>
            </a:extLst>
          </p:cNvPr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분석 결과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C5419161-A2E2-180A-4834-8433E9BB8F83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5BE29E95-A558-081E-56BD-72D29A6CDB61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CB3DCA5-2DEF-08F3-0771-EE869405C335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50433401-4393-AF44-74AE-27D5CF70BA1A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14E5665-E4B1-A4DD-E987-E3A0DBDF03B6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A65F7BD-8A4F-7F61-1A39-FA8458994271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A87FE78E-5948-A52B-3BAE-9E44EDA5C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420535-54DC-0EAF-77EC-869C3026AB51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B51E70F-8AB7-0836-0EE0-AAE912E0E92B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D05A479E-7146-B08B-761A-5D2DD779547D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철강 산업 시나리오 결과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한국 사례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1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6F89D7-31E6-2F3A-9333-9A217F8D5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C8ABC2C4-D2EE-BF68-E809-8401CD59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6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685E0F1-AD79-3D61-E25D-4850ABCE2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096" y="3808519"/>
            <a:ext cx="3846500" cy="2530194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03AABA5B-A1A3-9F87-D730-B04BF0416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098020"/>
              </p:ext>
            </p:extLst>
          </p:nvPr>
        </p:nvGraphicFramePr>
        <p:xfrm>
          <a:off x="6477813" y="3852909"/>
          <a:ext cx="4024471" cy="2420953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596611">
                  <a:extLst>
                    <a:ext uri="{9D8B030D-6E8A-4147-A177-3AD203B41FA5}">
                      <a16:colId xmlns:a16="http://schemas.microsoft.com/office/drawing/2014/main" val="2875998807"/>
                    </a:ext>
                  </a:extLst>
                </a:gridCol>
                <a:gridCol w="454056">
                  <a:extLst>
                    <a:ext uri="{9D8B030D-6E8A-4147-A177-3AD203B41FA5}">
                      <a16:colId xmlns:a16="http://schemas.microsoft.com/office/drawing/2014/main" val="3975918134"/>
                    </a:ext>
                  </a:extLst>
                </a:gridCol>
                <a:gridCol w="454056">
                  <a:extLst>
                    <a:ext uri="{9D8B030D-6E8A-4147-A177-3AD203B41FA5}">
                      <a16:colId xmlns:a16="http://schemas.microsoft.com/office/drawing/2014/main" val="1520507462"/>
                    </a:ext>
                  </a:extLst>
                </a:gridCol>
                <a:gridCol w="454056">
                  <a:extLst>
                    <a:ext uri="{9D8B030D-6E8A-4147-A177-3AD203B41FA5}">
                      <a16:colId xmlns:a16="http://schemas.microsoft.com/office/drawing/2014/main" val="3345776622"/>
                    </a:ext>
                  </a:extLst>
                </a:gridCol>
                <a:gridCol w="454056">
                  <a:extLst>
                    <a:ext uri="{9D8B030D-6E8A-4147-A177-3AD203B41FA5}">
                      <a16:colId xmlns:a16="http://schemas.microsoft.com/office/drawing/2014/main" val="3778689618"/>
                    </a:ext>
                  </a:extLst>
                </a:gridCol>
                <a:gridCol w="454056">
                  <a:extLst>
                    <a:ext uri="{9D8B030D-6E8A-4147-A177-3AD203B41FA5}">
                      <a16:colId xmlns:a16="http://schemas.microsoft.com/office/drawing/2014/main" val="2453963836"/>
                    </a:ext>
                  </a:extLst>
                </a:gridCol>
                <a:gridCol w="454056">
                  <a:extLst>
                    <a:ext uri="{9D8B030D-6E8A-4147-A177-3AD203B41FA5}">
                      <a16:colId xmlns:a16="http://schemas.microsoft.com/office/drawing/2014/main" val="2091342459"/>
                    </a:ext>
                  </a:extLst>
                </a:gridCol>
                <a:gridCol w="454056">
                  <a:extLst>
                    <a:ext uri="{9D8B030D-6E8A-4147-A177-3AD203B41FA5}">
                      <a16:colId xmlns:a16="http://schemas.microsoft.com/office/drawing/2014/main" val="175026902"/>
                    </a:ext>
                  </a:extLst>
                </a:gridCol>
                <a:gridCol w="249468">
                  <a:extLst>
                    <a:ext uri="{9D8B030D-6E8A-4147-A177-3AD203B41FA5}">
                      <a16:colId xmlns:a16="http://schemas.microsoft.com/office/drawing/2014/main" val="2276572086"/>
                    </a:ext>
                  </a:extLst>
                </a:gridCol>
              </a:tblGrid>
              <a:tr h="1729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2025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2030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2035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2040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2045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unit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317520"/>
                  </a:ext>
                </a:extLst>
              </a:tr>
              <a:tr h="2766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CCS </a:t>
                      </a:r>
                    </a:p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(1: domestic)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1.19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1.23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0.03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0.02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461014"/>
                  </a:ext>
                </a:extLst>
              </a:tr>
              <a:tr h="172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1.43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1.64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0.86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0.03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%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015585"/>
                  </a:ext>
                </a:extLst>
              </a:tr>
              <a:tr h="2766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CCS </a:t>
                      </a:r>
                    </a:p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(2: oversea)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2.96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9.90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12.21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14.25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83351"/>
                  </a:ext>
                </a:extLst>
              </a:tr>
              <a:tr h="172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4.11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13.31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15.90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17.96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%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564432"/>
                  </a:ext>
                </a:extLst>
              </a:tr>
              <a:tr h="2766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CCU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1.26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1.93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2.08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1.60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274188"/>
                  </a:ext>
                </a:extLst>
              </a:tr>
              <a:tr h="172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1.74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2.60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2.71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2.01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%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262240"/>
                  </a:ext>
                </a:extLst>
              </a:tr>
              <a:tr h="2766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H2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1.26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7.97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11.77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12.58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10.70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807727"/>
                  </a:ext>
                </a:extLst>
              </a:tr>
              <a:tr h="172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1.80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11.08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15.84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16.38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13.49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%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99209"/>
                  </a:ext>
                </a:extLst>
              </a:tr>
              <a:tr h="2766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BIO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1.26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5.19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5.16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4.48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3.73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791980"/>
                  </a:ext>
                </a:extLst>
              </a:tr>
              <a:tr h="172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1.80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7.21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6.94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5.83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4.70 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%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762" marR="7762" marT="7762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672690"/>
                  </a:ext>
                </a:extLst>
              </a:tr>
            </a:tbl>
          </a:graphicData>
        </a:graphic>
      </p:graphicFrame>
      <p:sp>
        <p:nvSpPr>
          <p:cNvPr id="18" name="모서리가 둥근 직사각형 13">
            <a:extLst>
              <a:ext uri="{FF2B5EF4-FFF2-40B4-BE49-F238E27FC236}">
                <a16:creationId xmlns:a16="http://schemas.microsoft.com/office/drawing/2014/main" id="{C72AC278-F17B-07C3-BF9F-A9A4CFD1290C}"/>
              </a:ext>
            </a:extLst>
          </p:cNvPr>
          <p:cNvSpPr/>
          <p:nvPr/>
        </p:nvSpPr>
        <p:spPr>
          <a:xfrm>
            <a:off x="1103157" y="3423009"/>
            <a:ext cx="10417402" cy="288000"/>
          </a:xfrm>
          <a:prstGeom prst="roundRect">
            <a:avLst>
              <a:gd name="adj" fmla="val 20995"/>
            </a:avLst>
          </a:prstGeom>
          <a:solidFill>
            <a:srgbClr val="73B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예시</a:t>
            </a:r>
            <a:r>
              <a:rPr lang="en-US" altLang="ko-KR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) </a:t>
            </a:r>
            <a:r>
              <a:rPr lang="ko-KR" altLang="en-US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한국의 </a:t>
            </a:r>
            <a:r>
              <a:rPr lang="en-US" altLang="ko-KR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Net-Zero + </a:t>
            </a:r>
            <a:r>
              <a:rPr lang="ko-KR" altLang="en-US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기술 변화 </a:t>
            </a:r>
            <a:r>
              <a:rPr lang="en-US" altLang="ko-KR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+ </a:t>
            </a:r>
            <a:r>
              <a:rPr lang="ko-KR" altLang="en-US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수요 관리 시나리오 </a:t>
            </a:r>
            <a:r>
              <a:rPr lang="en-US" altLang="ko-KR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임시 결과</a:t>
            </a:r>
            <a:r>
              <a:rPr lang="en-US" altLang="ko-KR" sz="1000" dirty="0">
                <a:solidFill>
                  <a:schemeClr val="bg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)</a:t>
            </a:r>
            <a:endParaRPr lang="ko-KR" altLang="en-US" sz="1000" dirty="0">
              <a:solidFill>
                <a:schemeClr val="bg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E2FBA062-2CB3-C700-E898-E6B8AB27E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361" y="2215388"/>
            <a:ext cx="10417403" cy="1157457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>
            <a:noAutofit/>
          </a:bodyPr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철강부문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2050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탄소중립 목표 달성을 고려한 주요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6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개국 철강산업의 기술 선택 분석</a:t>
            </a: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탄소 배출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70%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제약 강화 시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모든 국가에서 전반적으로 탄소저감기술 중 수소 기술의 생산량은 감소하고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바이오 및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CCUS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등 다른 탄소저감기술과 전해제철 기술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(</a:t>
            </a:r>
            <a:r>
              <a:rPr lang="en-US" altLang="ko-KR" sz="1200" dirty="0" err="1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Electrolyzer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-EAF, Electrowinning-EAF)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의 생산량이 증가함</a:t>
            </a: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신기술 학습효과 전후 비교 시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모든 국가에서 전반적으로 탄소저감기술 중 수소 및 전해제철 기술의 생산량이 크게 증가하며 가장 큰 학습효과를 보임</a:t>
            </a:r>
            <a:endParaRPr lang="en-US" altLang="ko-KR" sz="120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06253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/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7C704C9D-EB35-9FB6-8D9F-5DE35887E20C}"/>
              </a:ext>
            </a:extLst>
          </p:cNvPr>
          <p:cNvSpPr/>
          <p:nvPr/>
        </p:nvSpPr>
        <p:spPr>
          <a:xfrm>
            <a:off x="868983" y="1479590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BAE4C8-9EB1-C2F8-C03E-7D221765208D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CC624C7-1D1F-FE2E-477B-C3F076050E06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3C796-DB77-8F9A-33FB-572219FB6058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기반 시멘트 산업 모형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모형 개요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56B9C899-6778-8CE3-874C-9AEF9E3C04E2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56B9C899-6778-8CE3-874C-9AEF9E3C04E2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0F94E27-FEE6-DE61-37DE-0A8CBFA6AE55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3108D65F-317C-E814-9455-DA5BAD92A73F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1D6A6CB-56D3-F2DE-3521-6814F9DDB61B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22F463B-C0AF-8498-F898-E191BF599336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115E28B2-7AB0-E921-445A-FB6C1B6D5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EC7787-4032-05B5-0B1E-8CD4A31B3F37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FDECC39-9C9C-67C1-705C-639081BDE236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D0685435-4DCB-F96E-ED2F-34683A856896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시멘트 산업 공정 기반 상향식 모형 구조 개요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5CE8E7-B1FA-D576-1E0D-845D96A59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2A15296A-469A-2C7D-A1EA-130321E2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7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A5166391-5826-4207-BBE7-2AB105355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361" y="2363531"/>
            <a:ext cx="10417403" cy="1354948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>
            <a:noAutofit/>
          </a:bodyPr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구축된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DB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를 바탕으로 주요국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–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한국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중국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일본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미국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인도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EU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의 상향식 시멘트 모형 구축</a:t>
            </a:r>
            <a:endParaRPr lang="en-US" altLang="ko-KR" sz="120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시멘트 생산의 각 공정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flow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를 묘사하는 형태로 선행 공정에 원재료 및 에너지원을 투입하여 중간재를 생산하고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생산된 중간재가 다음 공정으로 전달되어 추가적인 원자재와 에너지원 그리고 중간재를 소비하여 다음 단계 재화를 생산하는 형태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(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아래 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RES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구조를 따라 생산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)</a:t>
            </a: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 </a:t>
            </a: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공정 최종 단계에 다다르면 중간재 대신 최종재를 생산하게 됨</a:t>
            </a:r>
            <a:endParaRPr lang="en-US" altLang="ko-KR" sz="1200" dirty="0"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각 공정 단계에서 대체 기술을 선택하도록 설정하며</a:t>
            </a:r>
            <a:r>
              <a:rPr lang="en-US" altLang="ko-KR" sz="1200" dirty="0"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대체 기술 중 </a:t>
            </a:r>
            <a:r>
              <a:rPr lang="en-US" altLang="ko-KR" sz="1200" dirty="0">
                <a:latin typeface="+mn-ea"/>
                <a:ea typeface="나눔스퀘어" panose="020B0600000101010101"/>
              </a:rPr>
              <a:t>1) 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사용 가능하며</a:t>
            </a:r>
            <a:r>
              <a:rPr lang="en-US" altLang="ko-KR" sz="1200" dirty="0">
                <a:latin typeface="+mn-ea"/>
                <a:ea typeface="나눔스퀘어" panose="020B0600000101010101"/>
              </a:rPr>
              <a:t>, 2) 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비용 최소화에 유리한 기술을 채용함</a:t>
            </a:r>
            <a:endParaRPr lang="en-US" altLang="ko-KR" sz="120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나눔스퀘어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BF9A549-C182-4C48-A09D-D037EBD7AFD3}"/>
              </a:ext>
            </a:extLst>
          </p:cNvPr>
          <p:cNvSpPr txBox="1"/>
          <p:nvPr/>
        </p:nvSpPr>
        <p:spPr>
          <a:xfrm>
            <a:off x="7716729" y="6118041"/>
            <a:ext cx="3168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200" kern="0" spc="-3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기술별</a:t>
            </a:r>
            <a:r>
              <a:rPr lang="ko-KR" altLang="en-US" sz="1200" kern="0" spc="-3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kern="0" spc="-3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투입물</a:t>
            </a:r>
            <a:r>
              <a:rPr lang="ko-KR" altLang="en-US" sz="1200" kern="0" spc="-3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및 투입량</a:t>
            </a: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목적함수</a:t>
            </a: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RES&gt;</a:t>
            </a:r>
            <a:endParaRPr lang="ko-KR" altLang="en-US" sz="1200" kern="0" spc="-30" dirty="0">
              <a:solidFill>
                <a:srgbClr val="000000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A47FECF-2250-4874-A45E-1FB583ADA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95" y="3839206"/>
            <a:ext cx="4291698" cy="225558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CBB6EA4-5D8A-4F19-8C3D-0BD5EFE0CB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0270" y="3882025"/>
            <a:ext cx="4536808" cy="1632929"/>
          </a:xfrm>
          <a:prstGeom prst="rect">
            <a:avLst/>
          </a:prstGeom>
        </p:spPr>
      </p:pic>
      <p:sp>
        <p:nvSpPr>
          <p:cNvPr id="39" name="내용 개체 틀 2">
            <a:extLst>
              <a:ext uri="{FF2B5EF4-FFF2-40B4-BE49-F238E27FC236}">
                <a16:creationId xmlns:a16="http://schemas.microsoft.com/office/drawing/2014/main" id="{585A34E2-0E8A-4367-AC56-4936EBE7B2EF}"/>
              </a:ext>
            </a:extLst>
          </p:cNvPr>
          <p:cNvSpPr txBox="1">
            <a:spLocks/>
          </p:cNvSpPr>
          <p:nvPr/>
        </p:nvSpPr>
        <p:spPr>
          <a:xfrm>
            <a:off x="1108659" y="5685641"/>
            <a:ext cx="5500688" cy="578208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indent="-864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모든 제약조건을 위반하지 않고</a:t>
            </a:r>
            <a:r>
              <a:rPr lang="en-US" altLang="ko-KR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,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수요를 만족하는 한 가장 작은 비용을 발생시키는 기술 조합을 산출하는 것이 모형 설계의 목표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 </a:t>
            </a: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807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/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15">
            <a:extLst>
              <a:ext uri="{FF2B5EF4-FFF2-40B4-BE49-F238E27FC236}">
                <a16:creationId xmlns:a16="http://schemas.microsoft.com/office/drawing/2014/main" id="{0F7DF3F2-ACFF-4B26-996B-F9D05E5F7F8C}"/>
              </a:ext>
            </a:extLst>
          </p:cNvPr>
          <p:cNvSpPr/>
          <p:nvPr/>
        </p:nvSpPr>
        <p:spPr>
          <a:xfrm>
            <a:off x="868983" y="1479590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BAE4C8-9EB1-C2F8-C03E-7D221765208D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CC624C7-1D1F-FE2E-477B-C3F076050E06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3C796-DB77-8F9A-33FB-572219FB6058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기반 시멘트 산업 모형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모형 개요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56B9C899-6778-8CE3-874C-9AEF9E3C04E2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56B9C899-6778-8CE3-874C-9AEF9E3C04E2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0F94E27-FEE6-DE61-37DE-0A8CBFA6AE55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3108D65F-317C-E814-9455-DA5BAD92A73F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1D6A6CB-56D3-F2DE-3521-6814F9DDB61B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22F463B-C0AF-8498-F898-E191BF599336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115E28B2-7AB0-E921-445A-FB6C1B6D5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EC7787-4032-05B5-0B1E-8CD4A31B3F37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FDECC39-9C9C-67C1-705C-639081BDE236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D0685435-4DCB-F96E-ED2F-34683A856896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시멘트 산업 공정 기반 상향식 모형 수식 구조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5CE8E7-B1FA-D576-1E0D-845D96A59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2A15296A-469A-2C7D-A1EA-130321E2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8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A5166391-5826-4207-BBE7-2AB105355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669" y="2490031"/>
            <a:ext cx="4519346" cy="3521221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anchor="ctr" anchorCtr="0">
            <a:noAutofit/>
          </a:bodyPr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시멘트 모형의 용도와 산업 특성에 맞는 수식 구조 설계</a:t>
            </a:r>
            <a:endParaRPr lang="en-US" altLang="ko-KR" sz="120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비용 최소화 목적함수</a:t>
            </a:r>
            <a:endParaRPr lang="en-US" altLang="ko-KR" sz="120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물질 흐름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제약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상위 생산물을 하위 기술에서 사용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cs typeface="Noto Sans Limbu" panose="020B0502040504020204" pitchFamily="34" charset="0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생산량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–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설비량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 제약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: (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설비량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*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기술 이용률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 이하로 생산</a:t>
            </a:r>
            <a:endParaRPr lang="en-US" altLang="ko-KR" sz="1200" dirty="0"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탄소배출량 제약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제한된 배출량을 초과하는 배출 불가</a:t>
            </a:r>
            <a:endParaRPr lang="en-US" altLang="ko-KR" sz="1200" dirty="0"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국내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CCS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저장량 제약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국가별로 자국 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CCS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저장 용량에 한계가 있으며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초과할 시 해상운송을 통해 국외로 운송</a:t>
            </a:r>
            <a:endParaRPr lang="en-US" altLang="ko-KR" sz="1200" dirty="0"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1200" dirty="0">
                <a:latin typeface="+mn-ea"/>
                <a:ea typeface="나눔스퀘어" panose="020B0600000101010101"/>
              </a:rPr>
              <a:t>	</a:t>
            </a:r>
            <a:r>
              <a:rPr lang="ko-KR" altLang="en-US" sz="1200" dirty="0">
                <a:latin typeface="+mn-ea"/>
                <a:ea typeface="나눔스퀘어" panose="020B0600000101010101"/>
              </a:rPr>
              <a:t>→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CCS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포집량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 제약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: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공정배출에 한하여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포집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연료배출분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Noto Sans Limbu" panose="020B0502040504020204" pitchFamily="34" charset="0"/>
              </a:rPr>
              <a:t>X)</a:t>
            </a:r>
            <a:endParaRPr lang="en-US" altLang="ko-KR" sz="120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dirty="0" err="1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제약식</a:t>
            </a:r>
            <a:r>
              <a:rPr lang="ko-KR" altLang="en-US" sz="120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 모두가 동시에 작용하며 시멘트 상향식 모형이 여러 다양한 요소를 고려한 결과를 산출하게 하며 비용 최소화 만을 위한 시뮬레이션 결과를 내지 않도록 현실성 부여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  <a:ea typeface="나눔스퀘어" panose="020B0600000101010101" pitchFamily="50" charset="-127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821AE0CC-6946-4500-B12E-3038D23DBB91}"/>
              </a:ext>
            </a:extLst>
          </p:cNvPr>
          <p:cNvGrpSpPr/>
          <p:nvPr/>
        </p:nvGrpSpPr>
        <p:grpSpPr>
          <a:xfrm>
            <a:off x="5920989" y="2521711"/>
            <a:ext cx="5626774" cy="341439"/>
            <a:chOff x="1577709" y="2364541"/>
            <a:chExt cx="9410980" cy="719870"/>
          </a:xfrm>
          <a:solidFill>
            <a:schemeClr val="bg2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사각형: 둥근 모서리 96">
                  <a:extLst>
                    <a:ext uri="{FF2B5EF4-FFF2-40B4-BE49-F238E27FC236}">
                      <a16:creationId xmlns:a16="http://schemas.microsoft.com/office/drawing/2014/main" id="{661CF3CF-EB02-48CD-A878-6CEB374CDE19}"/>
                    </a:ext>
                  </a:extLst>
                </p:cNvPr>
                <p:cNvSpPr/>
                <p:nvPr/>
              </p:nvSpPr>
              <p:spPr>
                <a:xfrm>
                  <a:off x="3627861" y="2368264"/>
                  <a:ext cx="7360828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ko-KR" sz="9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9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ko-KR" sz="9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TC</m:t>
                            </m:r>
                            <m:r>
                              <a:rPr lang="en-US" altLang="ko-KR" sz="9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ko-KR" altLang="ko-KR" sz="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  <m:sup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rate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costC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CostL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CostE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CostCt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ko-KR" sz="9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nary>
                          </m:e>
                        </m:func>
                      </m:oMath>
                    </m:oMathPara>
                  </a14:m>
                  <a:endParaRPr lang="ko-KR" altLang="ko-KR" sz="9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사각형: 둥근 모서리 96">
                  <a:extLst>
                    <a:ext uri="{FF2B5EF4-FFF2-40B4-BE49-F238E27FC236}">
                      <a16:creationId xmlns:a16="http://schemas.microsoft.com/office/drawing/2014/main" id="{661CF3CF-EB02-48CD-A878-6CEB374CDE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7861" y="2368264"/>
                  <a:ext cx="7360828" cy="716147"/>
                </a:xfrm>
                <a:prstGeom prst="roundRect">
                  <a:avLst/>
                </a:prstGeom>
                <a:blipFill>
                  <a:blip r:embed="rId6"/>
                  <a:stretch>
                    <a:fillRect t="-144828" b="-2034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사각형: 둥근 모서리 97">
                  <a:extLst>
                    <a:ext uri="{FF2B5EF4-FFF2-40B4-BE49-F238E27FC236}">
                      <a16:creationId xmlns:a16="http://schemas.microsoft.com/office/drawing/2014/main" id="{81FCC2FB-9113-41DF-9F8B-89CB0555489E}"/>
                    </a:ext>
                  </a:extLst>
                </p:cNvPr>
                <p:cNvSpPr/>
                <p:nvPr/>
              </p:nvSpPr>
              <p:spPr>
                <a:xfrm>
                  <a:off x="1577709" y="2364541"/>
                  <a:ext cx="1914853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목</m:t>
                      </m:r>
                    </m:oMath>
                  </a14:m>
                  <a:r>
                    <a:rPr lang="ko-KR" altLang="en-US" sz="1000" dirty="0">
                      <a:solidFill>
                        <a:schemeClr val="tx1"/>
                      </a:solidFill>
                    </a:rPr>
                    <a:t>적함수</a:t>
                  </a:r>
                </a:p>
              </p:txBody>
            </p:sp>
          </mc:Choice>
          <mc:Fallback xmlns="">
            <p:sp>
              <p:nvSpPr>
                <p:cNvPr id="98" name="사각형: 둥근 모서리 97">
                  <a:extLst>
                    <a:ext uri="{FF2B5EF4-FFF2-40B4-BE49-F238E27FC236}">
                      <a16:creationId xmlns:a16="http://schemas.microsoft.com/office/drawing/2014/main" id="{81FCC2FB-9113-41DF-9F8B-89CB055548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709" y="2364541"/>
                  <a:ext cx="1914853" cy="716147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BF9A549-C182-4C48-A09D-D037EBD7AFD3}"/>
              </a:ext>
            </a:extLst>
          </p:cNvPr>
          <p:cNvSpPr txBox="1"/>
          <p:nvPr/>
        </p:nvSpPr>
        <p:spPr>
          <a:xfrm>
            <a:off x="7615876" y="6151387"/>
            <a:ext cx="3168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모형의 </a:t>
            </a:r>
            <a:r>
              <a:rPr lang="ko-KR" altLang="en-US" sz="1200" kern="0" spc="-3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주요 수식</a:t>
            </a: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&gt;</a:t>
            </a:r>
            <a:endParaRPr lang="ko-KR" altLang="en-US" sz="1200" kern="0" spc="-30" dirty="0">
              <a:solidFill>
                <a:srgbClr val="000000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7E5B42E-EC68-4710-B4C4-7245D6E2CE8E}"/>
              </a:ext>
            </a:extLst>
          </p:cNvPr>
          <p:cNvGrpSpPr/>
          <p:nvPr/>
        </p:nvGrpSpPr>
        <p:grpSpPr>
          <a:xfrm>
            <a:off x="5920989" y="3519137"/>
            <a:ext cx="5626774" cy="341439"/>
            <a:chOff x="1577709" y="2364541"/>
            <a:chExt cx="9410979" cy="719870"/>
          </a:xfrm>
          <a:solidFill>
            <a:schemeClr val="bg2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사각형: 둥근 모서리 29">
                  <a:extLst>
                    <a:ext uri="{FF2B5EF4-FFF2-40B4-BE49-F238E27FC236}">
                      <a16:creationId xmlns:a16="http://schemas.microsoft.com/office/drawing/2014/main" id="{5BDBD87F-F52C-4B64-BFC0-A32F935A6ED4}"/>
                    </a:ext>
                  </a:extLst>
                </p:cNvPr>
                <p:cNvSpPr/>
                <p:nvPr/>
              </p:nvSpPr>
              <p:spPr>
                <a:xfrm>
                  <a:off x="3627861" y="2368264"/>
                  <a:ext cx="7360827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dist">
                    <a:lnSpc>
                      <a:spcPct val="150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inven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main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)=</m:t>
                        </m:r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ko-KR" altLang="ko-KR" sz="8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8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𝑡𝑒𝑐h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mainproduct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tech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n-US" altLang="ko-KR" sz="8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ko-KR" sz="800" b="0" i="0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cons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tech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main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ko-KR" altLang="ko-KR" sz="800" kern="100" dirty="0">
                    <a:solidFill>
                      <a:schemeClr val="tx1"/>
                    </a:solidFill>
                    <a:latin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사각형: 둥근 모서리 29">
                  <a:extLst>
                    <a:ext uri="{FF2B5EF4-FFF2-40B4-BE49-F238E27FC236}">
                      <a16:creationId xmlns:a16="http://schemas.microsoft.com/office/drawing/2014/main" id="{5BDBD87F-F52C-4B64-BFC0-A32F935A6E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7861" y="2368264"/>
                  <a:ext cx="7360827" cy="716147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A095A4D5-0C18-48CF-8E78-20E6671AB412}"/>
                    </a:ext>
                  </a:extLst>
                </p:cNvPr>
                <p:cNvSpPr/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물</m:t>
                      </m:r>
                    </m:oMath>
                  </a14:m>
                  <a:r>
                    <a:rPr lang="ko-KR" altLang="en-US" sz="1000" dirty="0">
                      <a:solidFill>
                        <a:schemeClr val="tx1"/>
                      </a:solidFill>
                    </a:rPr>
                    <a:t>질 흐름 제약</a:t>
                  </a:r>
                </a:p>
              </p:txBody>
            </p:sp>
          </mc:Choice>
          <mc:Fallback xmlns=""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A095A4D5-0C18-48CF-8E78-20E6671AB4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8E543CE-AFFF-473A-A643-5DE4DFB6EA4C}"/>
              </a:ext>
            </a:extLst>
          </p:cNvPr>
          <p:cNvGrpSpPr/>
          <p:nvPr/>
        </p:nvGrpSpPr>
        <p:grpSpPr>
          <a:xfrm>
            <a:off x="5920989" y="4017850"/>
            <a:ext cx="5626774" cy="465584"/>
            <a:chOff x="1577709" y="2395818"/>
            <a:chExt cx="9410979" cy="981609"/>
          </a:xfrm>
          <a:solidFill>
            <a:schemeClr val="bg2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사각형: 둥근 모서리 33">
                  <a:extLst>
                    <a:ext uri="{FF2B5EF4-FFF2-40B4-BE49-F238E27FC236}">
                      <a16:creationId xmlns:a16="http://schemas.microsoft.com/office/drawing/2014/main" id="{68BCAD48-83BC-40A5-A511-85492698416F}"/>
                    </a:ext>
                  </a:extLst>
                </p:cNvPr>
                <p:cNvSpPr/>
                <p:nvPr/>
              </p:nvSpPr>
              <p:spPr>
                <a:xfrm>
                  <a:off x="3627861" y="2395818"/>
                  <a:ext cx="7360827" cy="981609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540385"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cap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tech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a:rPr lang="en-US" altLang="ko-KR" sz="800" b="0" i="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oldcap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tech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a:rPr lang="en-US" altLang="ko-KR" sz="800" kern="1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)+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ko-KR" altLang="ko-KR" sz="8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ord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tt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)≥(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ord</m:t>
                            </m:r>
                            <m:d>
                              <m:dPr>
                                <m:ctrlPr>
                                  <a:rPr lang="ko-KR" altLang="ko-KR" sz="8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800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tt</m:t>
                                </m:r>
                              </m:e>
                            </m:d>
                            <m:r>
                              <a:rPr lang="en-US" altLang="ko-KR" sz="8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ko-KR" altLang="ko-KR" sz="800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800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800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life</m:t>
                                </m:r>
                                <m:d>
                                  <m:dPr>
                                    <m:ctrlPr>
                                      <a:rPr lang="ko-KR" altLang="ko-KR" sz="800" i="1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800" kern="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tech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+1)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ord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excap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tech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tt</m:t>
                            </m:r>
                            <m:r>
                              <a:rPr lang="en-US" altLang="ko-KR" sz="8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ko-KR" altLang="ko-KR" sz="800" kern="100" dirty="0">
                    <a:solidFill>
                      <a:schemeClr val="tx1"/>
                    </a:solidFill>
                    <a:latin typeface="맑은 고딕" panose="020B0503020000020004" pitchFamily="50" charset="-127"/>
                    <a:cs typeface="Times New Roman" panose="02020603050405020304" pitchFamily="18" charset="0"/>
                  </a:endParaRPr>
                </a:p>
                <a:p>
                  <a:pPr algn="dist">
                    <a:lnSpc>
                      <a:spcPct val="150000"/>
                    </a:lnSpc>
                    <a:spcAft>
                      <a:spcPts val="800"/>
                    </a:spcAft>
                  </a:pPr>
                  <a:endParaRPr lang="ko-KR" altLang="ko-KR" sz="800" kern="100" dirty="0">
                    <a:solidFill>
                      <a:schemeClr val="tx1"/>
                    </a:solidFill>
                    <a:latin typeface="맑은 고딕" panose="020B0503020000020004" pitchFamily="50" charset="-127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사각형: 둥근 모서리 33">
                  <a:extLst>
                    <a:ext uri="{FF2B5EF4-FFF2-40B4-BE49-F238E27FC236}">
                      <a16:creationId xmlns:a16="http://schemas.microsoft.com/office/drawing/2014/main" id="{68BCAD48-83BC-40A5-A511-8549269841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7861" y="2395818"/>
                  <a:ext cx="7360827" cy="981609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사각형: 둥근 모서리 34">
                  <a:extLst>
                    <a:ext uri="{FF2B5EF4-FFF2-40B4-BE49-F238E27FC236}">
                      <a16:creationId xmlns:a16="http://schemas.microsoft.com/office/drawing/2014/main" id="{B79B719F-BD6C-4E89-9C52-ED924CD99D57}"/>
                    </a:ext>
                  </a:extLst>
                </p:cNvPr>
                <p:cNvSpPr/>
                <p:nvPr/>
              </p:nvSpPr>
              <p:spPr>
                <a:xfrm>
                  <a:off x="1577709" y="2538186"/>
                  <a:ext cx="1914852" cy="716146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기</m:t>
                      </m:r>
                    </m:oMath>
                  </a14:m>
                  <a:r>
                    <a:rPr lang="ko-KR" altLang="en-US" sz="1000" dirty="0">
                      <a:solidFill>
                        <a:schemeClr val="tx1"/>
                      </a:solidFill>
                    </a:rPr>
                    <a:t>술 용량 산출</a:t>
                  </a:r>
                </a:p>
              </p:txBody>
            </p:sp>
          </mc:Choice>
          <mc:Fallback xmlns="">
            <p:sp>
              <p:nvSpPr>
                <p:cNvPr id="35" name="사각형: 둥근 모서리 34">
                  <a:extLst>
                    <a:ext uri="{FF2B5EF4-FFF2-40B4-BE49-F238E27FC236}">
                      <a16:creationId xmlns:a16="http://schemas.microsoft.com/office/drawing/2014/main" id="{B79B719F-BD6C-4E89-9C52-ED924CD99D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709" y="2538186"/>
                  <a:ext cx="1914852" cy="716146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D42053E-F2AE-41AF-8847-F73ABEAE7CA7}"/>
              </a:ext>
            </a:extLst>
          </p:cNvPr>
          <p:cNvGrpSpPr/>
          <p:nvPr/>
        </p:nvGrpSpPr>
        <p:grpSpPr>
          <a:xfrm>
            <a:off x="5920989" y="4640708"/>
            <a:ext cx="5626774" cy="341439"/>
            <a:chOff x="1577709" y="2364541"/>
            <a:chExt cx="9410980" cy="719870"/>
          </a:xfrm>
          <a:solidFill>
            <a:schemeClr val="bg2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사각형: 둥근 모서리 36">
                  <a:extLst>
                    <a:ext uri="{FF2B5EF4-FFF2-40B4-BE49-F238E27FC236}">
                      <a16:creationId xmlns:a16="http://schemas.microsoft.com/office/drawing/2014/main" id="{B81C7FA6-D351-4204-B685-A47998624803}"/>
                    </a:ext>
                  </a:extLst>
                </p:cNvPr>
                <p:cNvSpPr/>
                <p:nvPr/>
              </p:nvSpPr>
              <p:spPr>
                <a:xfrm>
                  <a:off x="3627861" y="2368264"/>
                  <a:ext cx="7360828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9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n-US" altLang="ko-KR" sz="9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ko-KR" sz="9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mainproduct</m:t>
                      </m:r>
                      <m:d>
                        <m:dPr>
                          <m:ctrlPr>
                            <a:rPr lang="en-US" altLang="ko-KR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9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tech</m:t>
                          </m:r>
                          <m:r>
                            <a:rPr lang="en-US" altLang="ko-KR" sz="9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9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a14:m>
                  <a:r>
                    <a:rPr lang="en-US" altLang="ko-KR" sz="9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&lt;</a:t>
                  </a:r>
                  <a:r>
                    <a:rPr lang="en-US" altLang="ko-KR" sz="900" dirty="0" err="1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v_cap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(</a:t>
                  </a:r>
                  <a:r>
                    <a:rPr lang="en-US" altLang="ko-KR" sz="900" dirty="0" err="1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tech,t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) * </a:t>
                  </a:r>
                  <a:r>
                    <a:rPr lang="en-US" altLang="ko-KR" sz="900" dirty="0" err="1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p_plf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(tech)</a:t>
                  </a:r>
                  <a:endParaRPr lang="ko-KR" altLang="ko-KR" sz="9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사각형: 둥근 모서리 36">
                  <a:extLst>
                    <a:ext uri="{FF2B5EF4-FFF2-40B4-BE49-F238E27FC236}">
                      <a16:creationId xmlns:a16="http://schemas.microsoft.com/office/drawing/2014/main" id="{B81C7FA6-D351-4204-B685-A479986248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7861" y="2368264"/>
                  <a:ext cx="7360828" cy="716147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사각형: 둥근 모서리 37">
                  <a:extLst>
                    <a:ext uri="{FF2B5EF4-FFF2-40B4-BE49-F238E27FC236}">
                      <a16:creationId xmlns:a16="http://schemas.microsoft.com/office/drawing/2014/main" id="{9D22C8F9-1B1A-4C1D-9977-37158BAADBAB}"/>
                    </a:ext>
                  </a:extLst>
                </p:cNvPr>
                <p:cNvSpPr/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생</m:t>
                      </m:r>
                    </m:oMath>
                  </a14:m>
                  <a:r>
                    <a:rPr lang="ko-KR" altLang="en-US" sz="1000" dirty="0">
                      <a:solidFill>
                        <a:schemeClr val="tx1"/>
                      </a:solidFill>
                    </a:rPr>
                    <a:t>산량 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>– </a:t>
                  </a:r>
                  <a:r>
                    <a:rPr lang="ko-KR" altLang="en-US" sz="1000" dirty="0" err="1">
                      <a:solidFill>
                        <a:schemeClr val="tx1"/>
                      </a:solidFill>
                    </a:rPr>
                    <a:t>설비량</a:t>
                  </a:r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사각형: 둥근 모서리 37">
                  <a:extLst>
                    <a:ext uri="{FF2B5EF4-FFF2-40B4-BE49-F238E27FC236}">
                      <a16:creationId xmlns:a16="http://schemas.microsoft.com/office/drawing/2014/main" id="{9D22C8F9-1B1A-4C1D-9977-37158BAADB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43A3062-7707-4E1B-9366-F07D8484539E}"/>
              </a:ext>
            </a:extLst>
          </p:cNvPr>
          <p:cNvGrpSpPr/>
          <p:nvPr/>
        </p:nvGrpSpPr>
        <p:grpSpPr>
          <a:xfrm>
            <a:off x="5920989" y="5139422"/>
            <a:ext cx="5626774" cy="341439"/>
            <a:chOff x="1577709" y="2364541"/>
            <a:chExt cx="9410980" cy="719870"/>
          </a:xfrm>
          <a:solidFill>
            <a:schemeClr val="bg2"/>
          </a:solidFill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B06996A-D3BD-4FEC-BB74-BCF9A13E2DB8}"/>
                </a:ext>
              </a:extLst>
            </p:cNvPr>
            <p:cNvSpPr/>
            <p:nvPr/>
          </p:nvSpPr>
          <p:spPr>
            <a:xfrm>
              <a:off x="3627861" y="2368264"/>
              <a:ext cx="7360828" cy="71614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Cambria Math" panose="02040503050406030204" pitchFamily="18" charset="0"/>
                </a:rPr>
                <a:t>v_annualCO2(t) &lt; CO2_(t)</a:t>
              </a:r>
              <a:endParaRPr lang="ko-KR" altLang="ko-KR" sz="900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사각형: 둥근 모서리 40">
                  <a:extLst>
                    <a:ext uri="{FF2B5EF4-FFF2-40B4-BE49-F238E27FC236}">
                      <a16:creationId xmlns:a16="http://schemas.microsoft.com/office/drawing/2014/main" id="{3D329D44-6AF0-4BB1-888C-D2142805670E}"/>
                    </a:ext>
                  </a:extLst>
                </p:cNvPr>
                <p:cNvSpPr/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탄</m:t>
                      </m:r>
                    </m:oMath>
                  </a14:m>
                  <a:r>
                    <a:rPr lang="ko-KR" altLang="en-US" sz="1000" dirty="0">
                      <a:solidFill>
                        <a:schemeClr val="tx1"/>
                      </a:solidFill>
                    </a:rPr>
                    <a:t>소배출제약</a:t>
                  </a:r>
                </a:p>
              </p:txBody>
            </p:sp>
          </mc:Choice>
          <mc:Fallback xmlns="">
            <p:sp>
              <p:nvSpPr>
                <p:cNvPr id="41" name="사각형: 둥근 모서리 40">
                  <a:extLst>
                    <a:ext uri="{FF2B5EF4-FFF2-40B4-BE49-F238E27FC236}">
                      <a16:creationId xmlns:a16="http://schemas.microsoft.com/office/drawing/2014/main" id="{3D329D44-6AF0-4BB1-888C-D214280567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7FA46CA-6A6A-4FC5-B2E9-BD4A7EE2A99E}"/>
              </a:ext>
            </a:extLst>
          </p:cNvPr>
          <p:cNvGrpSpPr/>
          <p:nvPr/>
        </p:nvGrpSpPr>
        <p:grpSpPr>
          <a:xfrm>
            <a:off x="5920989" y="3020424"/>
            <a:ext cx="5626774" cy="341439"/>
            <a:chOff x="1577709" y="2364541"/>
            <a:chExt cx="9410980" cy="719870"/>
          </a:xfrm>
          <a:solidFill>
            <a:schemeClr val="bg2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사각형: 둥근 모서리 42">
                  <a:extLst>
                    <a:ext uri="{FF2B5EF4-FFF2-40B4-BE49-F238E27FC236}">
                      <a16:creationId xmlns:a16="http://schemas.microsoft.com/office/drawing/2014/main" id="{C27C24A3-FB6B-4629-9CCB-168BBAD7FB3D}"/>
                    </a:ext>
                  </a:extLst>
                </p:cNvPr>
                <p:cNvSpPr/>
                <p:nvPr/>
              </p:nvSpPr>
              <p:spPr>
                <a:xfrm>
                  <a:off x="3627861" y="2368264"/>
                  <a:ext cx="7360828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9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n-US" altLang="ko-KR" sz="9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ko-KR" sz="9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mainproduct</m:t>
                      </m:r>
                      <m:d>
                        <m:dPr>
                          <m:ctrlPr>
                            <a:rPr lang="en-US" altLang="ko-KR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9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fin</m:t>
                          </m:r>
                          <m:r>
                            <a:rPr lang="en-US" altLang="ko-KR" sz="9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9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a14:m>
                  <a:r>
                    <a:rPr lang="en-US" altLang="ko-KR" sz="900" dirty="0">
                      <a:solidFill>
                        <a:schemeClr val="tx1"/>
                      </a:solidFill>
                    </a:rPr>
                    <a:t>&gt;</a:t>
                  </a:r>
                  <a:r>
                    <a:rPr lang="en-US" altLang="ko-KR" sz="900" dirty="0" err="1">
                      <a:solidFill>
                        <a:schemeClr val="tx1"/>
                      </a:solidFill>
                    </a:rPr>
                    <a:t>p_demand</a:t>
                  </a:r>
                  <a:r>
                    <a:rPr lang="en-US" altLang="ko-KR" sz="900" dirty="0">
                      <a:solidFill>
                        <a:schemeClr val="tx1"/>
                      </a:solidFill>
                    </a:rPr>
                    <a:t>(</a:t>
                  </a:r>
                  <a:r>
                    <a:rPr lang="en-US" altLang="ko-KR" sz="900" dirty="0" err="1">
                      <a:solidFill>
                        <a:schemeClr val="tx1"/>
                      </a:solidFill>
                    </a:rPr>
                    <a:t>fin,t</a:t>
                  </a:r>
                  <a:r>
                    <a:rPr lang="en-US" altLang="ko-KR" sz="900" dirty="0">
                      <a:solidFill>
                        <a:schemeClr val="tx1"/>
                      </a:solidFill>
                    </a:rPr>
                    <a:t>)</a:t>
                  </a:r>
                  <a:endParaRPr lang="ko-KR" altLang="ko-KR" sz="9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사각형: 둥근 모서리 42">
                  <a:extLst>
                    <a:ext uri="{FF2B5EF4-FFF2-40B4-BE49-F238E27FC236}">
                      <a16:creationId xmlns:a16="http://schemas.microsoft.com/office/drawing/2014/main" id="{C27C24A3-FB6B-4629-9CCB-168BBAD7FB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7861" y="2368264"/>
                  <a:ext cx="7360828" cy="716147"/>
                </a:xfrm>
                <a:prstGeom prst="round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사각형: 둥근 모서리 43">
                  <a:extLst>
                    <a:ext uri="{FF2B5EF4-FFF2-40B4-BE49-F238E27FC236}">
                      <a16:creationId xmlns:a16="http://schemas.microsoft.com/office/drawing/2014/main" id="{42FBD1AC-D3C4-466A-B410-FB6F428CF607}"/>
                    </a:ext>
                  </a:extLst>
                </p:cNvPr>
                <p:cNvSpPr/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수</m:t>
                      </m:r>
                    </m:oMath>
                  </a14:m>
                  <a:r>
                    <a:rPr lang="ko-KR" altLang="en-US" sz="1000" dirty="0">
                      <a:solidFill>
                        <a:schemeClr val="tx1"/>
                      </a:solidFill>
                    </a:rPr>
                    <a:t>요 만족</a:t>
                  </a:r>
                </a:p>
              </p:txBody>
            </p:sp>
          </mc:Choice>
          <mc:Fallback xmlns="">
            <p:sp>
              <p:nvSpPr>
                <p:cNvPr id="44" name="사각형: 둥근 모서리 43">
                  <a:extLst>
                    <a:ext uri="{FF2B5EF4-FFF2-40B4-BE49-F238E27FC236}">
                      <a16:creationId xmlns:a16="http://schemas.microsoft.com/office/drawing/2014/main" id="{42FBD1AC-D3C4-466A-B410-FB6F428CF6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0491AEB-DA79-4D9A-A0A5-19A4628672F4}"/>
              </a:ext>
            </a:extLst>
          </p:cNvPr>
          <p:cNvGrpSpPr/>
          <p:nvPr/>
        </p:nvGrpSpPr>
        <p:grpSpPr>
          <a:xfrm>
            <a:off x="5920989" y="5661565"/>
            <a:ext cx="5626774" cy="341439"/>
            <a:chOff x="1577709" y="2364541"/>
            <a:chExt cx="9410980" cy="719870"/>
          </a:xfrm>
          <a:solidFill>
            <a:schemeClr val="bg2"/>
          </a:solidFill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102CA203-22F4-4837-8CA6-089649E0A996}"/>
                </a:ext>
              </a:extLst>
            </p:cNvPr>
            <p:cNvSpPr/>
            <p:nvPr/>
          </p:nvSpPr>
          <p:spPr>
            <a:xfrm>
              <a:off x="3627861" y="2368264"/>
              <a:ext cx="7360828" cy="71614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Cambria Math" panose="02040503050406030204" pitchFamily="18" charset="0"/>
                </a:rPr>
                <a:t>v_CO2captured(t) &lt; </a:t>
              </a:r>
              <a:r>
                <a:rPr lang="en-US" altLang="ko-KR" sz="900" dirty="0" err="1">
                  <a:solidFill>
                    <a:schemeClr val="tx1"/>
                  </a:solidFill>
                  <a:latin typeface="Cambria Math" panose="02040503050406030204" pitchFamily="18" charset="0"/>
                </a:rPr>
                <a:t>p_ccslim</a:t>
              </a:r>
              <a:r>
                <a:rPr lang="en-US" altLang="ko-KR" sz="900" dirty="0">
                  <a:solidFill>
                    <a:schemeClr val="tx1"/>
                  </a:solidFill>
                  <a:latin typeface="Cambria Math" panose="02040503050406030204" pitchFamily="18" charset="0"/>
                </a:rPr>
                <a:t> - v_CO2capturedAC(t - 1);</a:t>
              </a:r>
              <a:endParaRPr lang="ko-KR" altLang="ko-KR" sz="900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사각형: 둥근 모서리 46">
                  <a:extLst>
                    <a:ext uri="{FF2B5EF4-FFF2-40B4-BE49-F238E27FC236}">
                      <a16:creationId xmlns:a16="http://schemas.microsoft.com/office/drawing/2014/main" id="{0EC307AF-1EC6-405D-9EBC-890332E029F9}"/>
                    </a:ext>
                  </a:extLst>
                </p:cNvPr>
                <p:cNvSpPr/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국</m:t>
                      </m:r>
                    </m:oMath>
                  </a14:m>
                  <a:r>
                    <a:rPr lang="ko-KR" altLang="en-US" sz="1000" dirty="0">
                      <a:solidFill>
                        <a:schemeClr val="tx1"/>
                      </a:solidFill>
                    </a:rPr>
                    <a:t>내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>CCS </a:t>
                  </a:r>
                  <a:r>
                    <a:rPr lang="ko-KR" altLang="en-US" sz="1000" dirty="0">
                      <a:solidFill>
                        <a:schemeClr val="tx1"/>
                      </a:solidFill>
                    </a:rPr>
                    <a:t>제약</a:t>
                  </a:r>
                </a:p>
              </p:txBody>
            </p:sp>
          </mc:Choice>
          <mc:Fallback xmlns="">
            <p:sp>
              <p:nvSpPr>
                <p:cNvPr id="47" name="사각형: 둥근 모서리 46">
                  <a:extLst>
                    <a:ext uri="{FF2B5EF4-FFF2-40B4-BE49-F238E27FC236}">
                      <a16:creationId xmlns:a16="http://schemas.microsoft.com/office/drawing/2014/main" id="{0EC307AF-1EC6-405D-9EBC-890332E029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709" y="2364541"/>
                  <a:ext cx="1914852" cy="716147"/>
                </a:xfrm>
                <a:prstGeom prst="round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5085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/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7C704C9D-EB35-9FB6-8D9F-5DE35887E20C}"/>
              </a:ext>
            </a:extLst>
          </p:cNvPr>
          <p:cNvSpPr/>
          <p:nvPr/>
        </p:nvSpPr>
        <p:spPr>
          <a:xfrm>
            <a:off x="868983" y="1479590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BAE4C8-9EB1-C2F8-C03E-7D221765208D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CC624C7-1D1F-FE2E-477B-C3F076050E06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3C796-DB77-8F9A-33FB-572219FB6058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기반 시멘트 산업 모형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모형 개요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56B9C899-6778-8CE3-874C-9AEF9E3C04E2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56B9C899-6778-8CE3-874C-9AEF9E3C04E2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0F94E27-FEE6-DE61-37DE-0A8CBFA6AE55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3108D65F-317C-E814-9455-DA5BAD92A73F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1D6A6CB-56D3-F2DE-3521-6814F9DDB61B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22F463B-C0AF-8498-F898-E191BF599336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115E28B2-7AB0-E921-445A-FB6C1B6D5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EC7787-4032-05B5-0B1E-8CD4A31B3F37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FDECC39-9C9C-67C1-705C-639081BDE236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D0685435-4DCB-F96E-ED2F-34683A856896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글로벌 시멘트 산업 공정 기반 상향식 모형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5CE8E7-B1FA-D576-1E0D-845D96A59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2A15296A-469A-2C7D-A1EA-130321E2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9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A5166391-5826-4207-BBE7-2AB105355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361" y="2363531"/>
            <a:ext cx="10417403" cy="1354948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>
            <a:noAutofit/>
          </a:bodyPr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나눔스퀘어" panose="020B0600000101010101"/>
              </a:rPr>
              <a:t>· </a:t>
            </a:r>
            <a:r>
              <a:rPr lang="ko-KR" altLang="en-US" sz="1200" spc="-15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구축된 모형을 </a:t>
            </a:r>
            <a:r>
              <a:rPr lang="en-US" altLang="ko-KR" sz="1200" spc="-15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6</a:t>
            </a:r>
            <a:r>
              <a:rPr lang="ko-KR" altLang="en-US" sz="1200" spc="-15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+mn-ea"/>
                <a:ea typeface="나눔스퀘어" panose="020B0600000101010101"/>
              </a:rPr>
              <a:t>개 주요국에 대하여 활용하기 위해 모형 구조 추가</a:t>
            </a:r>
            <a:endParaRPr lang="en-US" altLang="ko-KR" sz="12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200" spc="3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GAMS</a:t>
            </a:r>
            <a:r>
              <a:rPr lang="ko-KR" altLang="en-US" sz="1200" spc="3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 의 </a:t>
            </a:r>
            <a:r>
              <a:rPr lang="en-US" altLang="ko-KR" sz="1200" spc="3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loop </a:t>
            </a:r>
            <a:r>
              <a:rPr lang="ko-KR" altLang="en-US" sz="1200" spc="3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구문을 활용하여  </a:t>
            </a:r>
            <a:r>
              <a:rPr lang="en-US" altLang="ko-KR" sz="1200" spc="3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200" spc="3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개 국가에 대한 결과를 개별적으로 계산한 이후에 결과 집계</a:t>
            </a:r>
            <a:endParaRPr lang="en-US" altLang="ko-KR" sz="1200" spc="3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각 국가별로 다른 값을 사용하는 파라미터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초기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설비량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Clinker ratio,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시멘트 수요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국가 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CCS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저장량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연료 비용을 매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iteration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마다 해당 국가에 맞는 값으로 자동 업데이트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	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국가별로 다른 수요 변동 시나리오와 탄소배출량 감축 시나리오 적용 가능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BF9A549-C182-4C48-A09D-D037EBD7AFD3}"/>
              </a:ext>
            </a:extLst>
          </p:cNvPr>
          <p:cNvSpPr txBox="1"/>
          <p:nvPr/>
        </p:nvSpPr>
        <p:spPr>
          <a:xfrm>
            <a:off x="2051081" y="6156956"/>
            <a:ext cx="3168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국가별로 차별화한 데이터</a:t>
            </a: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endParaRPr lang="ko-KR" altLang="en-US" sz="1200" kern="0" spc="-30" dirty="0">
              <a:solidFill>
                <a:srgbClr val="000000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BA8EA60-158D-489C-A2AE-6B067C407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146" y="3850251"/>
            <a:ext cx="4841871" cy="223093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A7D7831-86FF-4CF8-B950-350237C541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777" y="4343268"/>
            <a:ext cx="1756687" cy="135494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09D2FE6-CADA-4C7F-8756-9303BAE7C2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6765" y="4343268"/>
            <a:ext cx="3508872" cy="135494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DEAEAEB-5A7B-4A95-AD77-67B98F49B515}"/>
              </a:ext>
            </a:extLst>
          </p:cNvPr>
          <p:cNvSpPr txBox="1"/>
          <p:nvPr/>
        </p:nvSpPr>
        <p:spPr>
          <a:xfrm>
            <a:off x="7522537" y="6156956"/>
            <a:ext cx="3168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en-US" altLang="ko-KR" sz="1200" kern="0" spc="-3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Loop</a:t>
            </a:r>
            <a:r>
              <a:rPr lang="ko-KR" altLang="en-US" sz="1200" kern="0" spc="-3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구문 및 데이터 업데이트 코드</a:t>
            </a:r>
            <a:r>
              <a:rPr lang="en-US" altLang="ko-KR" sz="1200" kern="0" spc="-30" dirty="0">
                <a:solidFill>
                  <a:srgbClr val="000000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endParaRPr lang="ko-KR" altLang="en-US" sz="1200" kern="0" spc="-30" dirty="0">
              <a:solidFill>
                <a:srgbClr val="000000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975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EA77-1DFD-95A9-87D5-ACFED141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>
            <a:extLst>
              <a:ext uri="{FF2B5EF4-FFF2-40B4-BE49-F238E27FC236}">
                <a16:creationId xmlns:a16="http://schemas.microsoft.com/office/drawing/2014/main" id="{FC2218D0-7775-1764-DAC0-2E8CFDB89571}"/>
              </a:ext>
            </a:extLst>
          </p:cNvPr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BEEB8FAD-DA87-D250-D661-9DCD6B735AA5}"/>
              </a:ext>
            </a:extLst>
          </p:cNvPr>
          <p:cNvSpPr/>
          <p:nvPr/>
        </p:nvSpPr>
        <p:spPr>
          <a:xfrm>
            <a:off x="841822" y="1494601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CAD47-EEDB-24C4-F013-4DCD44FCB3A2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D1A8BF8D-BAD3-10F9-8B8C-C843B78179FD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F94159-73AC-14D1-EE1C-326C7BE88E93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기반 시멘트 산업 모형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12E45F0-4967-4559-BD9F-EDCDBC603737}"/>
              </a:ext>
            </a:extLst>
          </p:cNvPr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시나리오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04FAF5F0-553E-2C4C-9A93-B833A4155F15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1748B41A-DAC2-3862-05E5-BC5D6DC53451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C31F675-F4A3-9C2C-99BD-F4D0F5EDCB57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9A8A79D2-62E5-46A3-1F05-D399593D1357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C2F1BF3-C6D5-7C10-F0E7-7298150F5B70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AF729782-63A3-88E1-277B-13F96ADA806B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567E39B6-5585-8121-7E82-AEE68C3E4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F0E8578-799D-F4C5-A6F9-3F740C770769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F157B7F-7744-56E4-CBF9-D519EF526C3A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84FA3B9C-C35E-B002-51F0-EFC3DB8A0063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시멘트 산업 시나리오 구성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FFF49EC-EBD5-AC75-FEBE-5912DD343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C3ACF1CC-F31F-FB6A-E08E-4B9B8FB3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10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BF335E5-4881-78C8-81B2-73FCB9C8D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542069"/>
              </p:ext>
            </p:extLst>
          </p:nvPr>
        </p:nvGraphicFramePr>
        <p:xfrm>
          <a:off x="2121729" y="2420112"/>
          <a:ext cx="8434666" cy="2336790"/>
        </p:xfrm>
        <a:graphic>
          <a:graphicData uri="http://schemas.openxmlformats.org/drawingml/2006/table">
            <a:tbl>
              <a:tblPr/>
              <a:tblGrid>
                <a:gridCol w="2743372">
                  <a:extLst>
                    <a:ext uri="{9D8B030D-6E8A-4147-A177-3AD203B41FA5}">
                      <a16:colId xmlns:a16="http://schemas.microsoft.com/office/drawing/2014/main" val="2970656126"/>
                    </a:ext>
                  </a:extLst>
                </a:gridCol>
                <a:gridCol w="1897098">
                  <a:extLst>
                    <a:ext uri="{9D8B030D-6E8A-4147-A177-3AD203B41FA5}">
                      <a16:colId xmlns:a16="http://schemas.microsoft.com/office/drawing/2014/main" val="3366891252"/>
                    </a:ext>
                  </a:extLst>
                </a:gridCol>
                <a:gridCol w="1897098">
                  <a:extLst>
                    <a:ext uri="{9D8B030D-6E8A-4147-A177-3AD203B41FA5}">
                      <a16:colId xmlns:a16="http://schemas.microsoft.com/office/drawing/2014/main" val="3066203830"/>
                    </a:ext>
                  </a:extLst>
                </a:gridCol>
                <a:gridCol w="1897098">
                  <a:extLst>
                    <a:ext uri="{9D8B030D-6E8A-4147-A177-3AD203B41FA5}">
                      <a16:colId xmlns:a16="http://schemas.microsoft.com/office/drawing/2014/main" val="1605184812"/>
                    </a:ext>
                  </a:extLst>
                </a:gridCol>
              </a:tblGrid>
              <a:tr h="71010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시멘트산업 시나리오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배출량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학습률</a:t>
                      </a:r>
                      <a:b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추후 반영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수요증감</a:t>
                      </a:r>
                      <a:b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(BAU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에서 초기 소폭 증가 </a:t>
                      </a:r>
                      <a:b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이후 약 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24% </a:t>
                      </a:r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감소</a:t>
                      </a:r>
                      <a:r>
                        <a:rPr lang="en-US" altLang="ko-K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46783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BAU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시나리오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X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X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X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37840"/>
                  </a:ext>
                </a:extLst>
              </a:tr>
              <a:tr h="4066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Net-Zero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시나리오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70%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X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X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92458"/>
                  </a:ext>
                </a:extLst>
              </a:tr>
              <a:tr h="4066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Net-Zero +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기술변화 시나리오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378462"/>
                  </a:ext>
                </a:extLst>
              </a:tr>
              <a:tr h="4066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Net-Zero +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기술변화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+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수요제약 시나리오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4413" marR="4413" marT="441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70%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-10%</a:t>
                      </a:r>
                    </a:p>
                  </a:txBody>
                  <a:tcPr marL="144000" marR="108000" marT="441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169683"/>
                  </a:ext>
                </a:extLst>
              </a:tr>
            </a:tbl>
          </a:graphicData>
        </a:graphic>
      </p:graphicFrame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54A6D154-7DAA-74D8-330F-AD747AA16622}"/>
              </a:ext>
            </a:extLst>
          </p:cNvPr>
          <p:cNvSpPr txBox="1">
            <a:spLocks/>
          </p:cNvSpPr>
          <p:nvPr/>
        </p:nvSpPr>
        <p:spPr>
          <a:xfrm>
            <a:off x="1130360" y="5039981"/>
            <a:ext cx="10417403" cy="1306497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indent="-864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설정된 가설 제약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(CCUS,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전기로 용량 제약 등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 추정된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학습률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등을 고려해 위와 같은 시나리오들을 구성할 수 있음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철강과 마찬가지로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100%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감축의 완전한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Net-Zero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시나리오는 구성할 수 없으므로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70%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감축량을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Net-Zero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시나리오로 설정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 수요 전망에 대한 조사를 통해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BAU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시나리오의 기본 설정에서 수요는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2019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이후 소폭 증가하지만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년대 중반 이후 하락세에 접어들며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2050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년에는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2019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대비 약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감소하는 것을 기준으로 결정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시멘트 산업에 대한 연구는 현재 진행형으로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학습률에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대한 결정이 아직 이루어지지 않아 해당 부분은 추후 반영 예정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5932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511CB-062E-6231-6537-4599EEEE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다리꼴 6">
            <a:extLst>
              <a:ext uri="{FF2B5EF4-FFF2-40B4-BE49-F238E27FC236}">
                <a16:creationId xmlns:a16="http://schemas.microsoft.com/office/drawing/2014/main" id="{D9C2A8E0-E8DA-D4BD-D9FC-8963D0A08983}"/>
              </a:ext>
            </a:extLst>
          </p:cNvPr>
          <p:cNvSpPr/>
          <p:nvPr/>
        </p:nvSpPr>
        <p:spPr>
          <a:xfrm>
            <a:off x="1103158" y="1282945"/>
            <a:ext cx="1581193" cy="309849"/>
          </a:xfrm>
          <a:prstGeom prst="trapezoid">
            <a:avLst/>
          </a:prstGeom>
          <a:solidFill>
            <a:srgbClr val="3D7A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">
            <a:extLst>
              <a:ext uri="{FF2B5EF4-FFF2-40B4-BE49-F238E27FC236}">
                <a16:creationId xmlns:a16="http://schemas.microsoft.com/office/drawing/2014/main" id="{FCAA7527-8FE6-151A-C688-102A7A99EAD7}"/>
              </a:ext>
            </a:extLst>
          </p:cNvPr>
          <p:cNvSpPr/>
          <p:nvPr/>
        </p:nvSpPr>
        <p:spPr>
          <a:xfrm>
            <a:off x="841822" y="1494601"/>
            <a:ext cx="10940158" cy="4952302"/>
          </a:xfrm>
          <a:prstGeom prst="roundRect">
            <a:avLst>
              <a:gd name="adj" fmla="val 46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1800" spc="-15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latin typeface="+mn-ea"/>
              <a:ea typeface="나눔스퀘어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49832B-9818-465D-23A1-A853C55A9221}"/>
              </a:ext>
            </a:extLst>
          </p:cNvPr>
          <p:cNvSpPr txBox="1"/>
          <p:nvPr/>
        </p:nvSpPr>
        <p:spPr>
          <a:xfrm>
            <a:off x="571500" y="594151"/>
            <a:ext cx="3353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차년도 연구수행내용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DF4155C6-E2F7-A535-E281-72EC49AC9657}"/>
              </a:ext>
            </a:extLst>
          </p:cNvPr>
          <p:cNvSpPr/>
          <p:nvPr/>
        </p:nvSpPr>
        <p:spPr>
          <a:xfrm>
            <a:off x="11646694" y="6633368"/>
            <a:ext cx="380013" cy="1389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6E59C-9293-B0B1-BA22-88FC4A03686E}"/>
              </a:ext>
            </a:extLst>
          </p:cNvPr>
          <p:cNvSpPr txBox="1"/>
          <p:nvPr/>
        </p:nvSpPr>
        <p:spPr>
          <a:xfrm>
            <a:off x="609601" y="875099"/>
            <a:ext cx="28829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8CA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기반 시멘트 산업 모형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E4D30C1-DB1E-1C2A-D3FC-44D3161C149A}"/>
              </a:ext>
            </a:extLst>
          </p:cNvPr>
          <p:cNvSpPr/>
          <p:nvPr/>
        </p:nvSpPr>
        <p:spPr>
          <a:xfrm>
            <a:off x="1177669" y="1235955"/>
            <a:ext cx="1430904" cy="356839"/>
          </a:xfrm>
          <a:prstGeom prst="roundRect">
            <a:avLst/>
          </a:prstGeom>
          <a:gradFill flip="none" rotWithShape="1">
            <a:gsLst>
              <a:gs pos="0">
                <a:srgbClr val="9ED4C8"/>
              </a:gs>
              <a:gs pos="100000">
                <a:srgbClr val="468CA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분석 결과</a:t>
            </a:r>
          </a:p>
        </p:txBody>
      </p:sp>
      <p:sp>
        <p:nvSpPr>
          <p:cNvPr id="22" name="사각형: 둥근 모서리 15">
            <a:extLst>
              <a:ext uri="{FF2B5EF4-FFF2-40B4-BE49-F238E27FC236}">
                <a16:creationId xmlns:a16="http://schemas.microsoft.com/office/drawing/2014/main" id="{0703A595-3015-9A61-695F-AADB850B2266}"/>
              </a:ext>
            </a:extLst>
          </p:cNvPr>
          <p:cNvSpPr/>
          <p:nvPr/>
        </p:nvSpPr>
        <p:spPr>
          <a:xfrm>
            <a:off x="1130361" y="1837176"/>
            <a:ext cx="2362200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 표</a:t>
            </a:r>
          </a:p>
        </p:txBody>
      </p:sp>
      <p:sp>
        <p:nvSpPr>
          <p:cNvPr id="25" name="사각형: 둥근 모서리 15">
            <a:extLst>
              <a:ext uri="{FF2B5EF4-FFF2-40B4-BE49-F238E27FC236}">
                <a16:creationId xmlns:a16="http://schemas.microsoft.com/office/drawing/2014/main" id="{5B10B43B-BDC5-8377-BB5D-C3B938D3D126}"/>
              </a:ext>
            </a:extLst>
          </p:cNvPr>
          <p:cNvSpPr/>
          <p:nvPr/>
        </p:nvSpPr>
        <p:spPr>
          <a:xfrm>
            <a:off x="3683990" y="1837176"/>
            <a:ext cx="7863773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 요 내 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3F017EA-38D1-0CD9-8E9A-C69DADC94BB3}"/>
              </a:ext>
            </a:extLst>
          </p:cNvPr>
          <p:cNvGrpSpPr/>
          <p:nvPr/>
        </p:nvGrpSpPr>
        <p:grpSpPr>
          <a:xfrm>
            <a:off x="300988" y="272270"/>
            <a:ext cx="64774" cy="242903"/>
            <a:chOff x="241300" y="190500"/>
            <a:chExt cx="92075" cy="345281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58FC47F-0D97-A4B3-EF49-4535ED503280}"/>
                </a:ext>
              </a:extLst>
            </p:cNvPr>
            <p:cNvSpPr/>
            <p:nvPr/>
          </p:nvSpPr>
          <p:spPr>
            <a:xfrm>
              <a:off x="241300" y="190500"/>
              <a:ext cx="92075" cy="92075"/>
            </a:xfrm>
            <a:prstGeom prst="ellipse">
              <a:avLst/>
            </a:prstGeom>
            <a:solidFill>
              <a:srgbClr val="9ED4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94227B5-327E-1BA7-8E75-D9858ED2B95A}"/>
                </a:ext>
              </a:extLst>
            </p:cNvPr>
            <p:cNvSpPr/>
            <p:nvPr/>
          </p:nvSpPr>
          <p:spPr>
            <a:xfrm>
              <a:off x="241300" y="317103"/>
              <a:ext cx="92075" cy="92075"/>
            </a:xfrm>
            <a:prstGeom prst="ellipse">
              <a:avLst/>
            </a:prstGeom>
            <a:solidFill>
              <a:srgbClr val="468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BBCA326A-11A7-7943-07EC-663C6B50E37A}"/>
                </a:ext>
              </a:extLst>
            </p:cNvPr>
            <p:cNvSpPr/>
            <p:nvPr/>
          </p:nvSpPr>
          <p:spPr>
            <a:xfrm>
              <a:off x="241300" y="443706"/>
              <a:ext cx="92075" cy="9207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6BFA1A45-DB0F-A368-BBA6-2B17A5739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33" y="685395"/>
            <a:ext cx="156065" cy="1560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8940A9-62B6-56BC-38FD-01E21F6A1A92}"/>
              </a:ext>
            </a:extLst>
          </p:cNvPr>
          <p:cNvSpPr txBox="1"/>
          <p:nvPr/>
        </p:nvSpPr>
        <p:spPr>
          <a:xfrm>
            <a:off x="333375" y="223555"/>
            <a:ext cx="44355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2]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서울대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07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연구 수행 내용 및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D7CF381-784A-9781-ED78-7D5DE49FFF51}"/>
              </a:ext>
            </a:extLst>
          </p:cNvPr>
          <p:cNvSpPr/>
          <p:nvPr/>
        </p:nvSpPr>
        <p:spPr>
          <a:xfrm>
            <a:off x="4379003" y="426108"/>
            <a:ext cx="7647703" cy="744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2E3DC"/>
              </a:gs>
              <a:gs pos="100000">
                <a:srgbClr val="0070C0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15">
            <a:extLst>
              <a:ext uri="{FF2B5EF4-FFF2-40B4-BE49-F238E27FC236}">
                <a16:creationId xmlns:a16="http://schemas.microsoft.com/office/drawing/2014/main" id="{03953D69-2E4B-A742-9AEB-2EB1EF1C401F}"/>
              </a:ext>
            </a:extLst>
          </p:cNvPr>
          <p:cNvSpPr/>
          <p:nvPr/>
        </p:nvSpPr>
        <p:spPr>
          <a:xfrm>
            <a:off x="1130361" y="1837176"/>
            <a:ext cx="10417402" cy="338554"/>
          </a:xfrm>
          <a:prstGeom prst="roundRect">
            <a:avLst>
              <a:gd name="adj" fmla="val 50000"/>
            </a:avLst>
          </a:prstGeom>
          <a:solidFill>
            <a:srgbClr val="46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   철강 산업 시나리오 결과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한국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case,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예시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ko-KR" altLang="en-US" sz="1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E626938-7954-7621-3F7A-68CC91374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66" y="1902377"/>
            <a:ext cx="282099" cy="208151"/>
          </a:xfrm>
          <a:prstGeom prst="rect">
            <a:avLst/>
          </a:prstGeom>
        </p:spPr>
      </p:pic>
      <p:sp>
        <p:nvSpPr>
          <p:cNvPr id="23" name="슬라이드 번호 개체 틀 9">
            <a:extLst>
              <a:ext uri="{FF2B5EF4-FFF2-40B4-BE49-F238E27FC236}">
                <a16:creationId xmlns:a16="http://schemas.microsoft.com/office/drawing/2014/main" id="{3025EA18-728C-8DD9-EA71-34BB9E41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6692" y="6515266"/>
            <a:ext cx="380013" cy="365125"/>
          </a:xfrm>
        </p:spPr>
        <p:txBody>
          <a:bodyPr/>
          <a:lstStyle/>
          <a:p>
            <a:pPr algn="ctr"/>
            <a:fld id="{D12AC090-0D39-4590-AD61-697590D96D14}" type="slidenum">
              <a:rPr lang="ko-KR" altLang="en-US" sz="90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11</a:t>
            </a:fld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2221F5D4-F270-31BE-D985-DFC3950CD2C0}"/>
              </a:ext>
            </a:extLst>
          </p:cNvPr>
          <p:cNvSpPr txBox="1">
            <a:spLocks/>
          </p:cNvSpPr>
          <p:nvPr/>
        </p:nvSpPr>
        <p:spPr>
          <a:xfrm>
            <a:off x="1103199" y="2387387"/>
            <a:ext cx="10417403" cy="285038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indent="-8640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앞서 제시된 시나리오 중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Net-Zero +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수요증감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시나리오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학습률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미반영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모형 결과 중 일부를 예시로 제시함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CF8BC9-8955-5250-EF57-CCBF1F739019}"/>
              </a:ext>
            </a:extLst>
          </p:cNvPr>
          <p:cNvGrpSpPr/>
          <p:nvPr/>
        </p:nvGrpSpPr>
        <p:grpSpPr>
          <a:xfrm>
            <a:off x="2282943" y="2737626"/>
            <a:ext cx="7856938" cy="2625773"/>
            <a:chOff x="1103158" y="2788710"/>
            <a:chExt cx="8057914" cy="2786345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864D4782-A91C-B9C1-2EBD-5DA1AC0DD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85091" y="2788710"/>
              <a:ext cx="2375981" cy="139020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014BF4F-E342-E1A7-C8C6-B447360DE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85090" y="4162119"/>
              <a:ext cx="2375982" cy="1396143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76913A9F-0E6D-D5C4-E5CC-41DE8F6E4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03158" y="2788710"/>
              <a:ext cx="5420596" cy="2786345"/>
            </a:xfrm>
            <a:prstGeom prst="rect">
              <a:avLst/>
            </a:prstGeom>
          </p:spPr>
        </p:pic>
      </p:grp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2BC48A01-D506-B261-2378-EB7DC53E486E}"/>
              </a:ext>
            </a:extLst>
          </p:cNvPr>
          <p:cNvSpPr txBox="1">
            <a:spLocks/>
          </p:cNvSpPr>
          <p:nvPr/>
        </p:nvSpPr>
        <p:spPr>
          <a:xfrm>
            <a:off x="1130360" y="5405699"/>
            <a:ext cx="10417403" cy="983079"/>
          </a:xfrm>
          <a:prstGeom prst="roundRect">
            <a:avLst>
              <a:gd name="adj" fmla="val 12061"/>
            </a:avLst>
          </a:prstGeom>
          <a:solidFill>
            <a:schemeClr val="bg2"/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기본 소성공정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(3)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적용 가능한 각종 신기술이 도입되는 기술믹스를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간격으로 제시하였으며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각 단락의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Pseudo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(310, 320, 330, 340,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단락 신기술 적용 없음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포함됨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예열소성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(322), Heat Recovery(331),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국내 및 해상운송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CCS(341, 342)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등의 신기술이 목적함수 만족을 위해 선택되며 변화하는 기술믹스를 확인할 수 있음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6400" indent="-8640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시나리오 및 기술 선택에 대한 검증 보완 작업은 추가적인 진행이 필요함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5457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1968</Words>
  <Application>Microsoft Office PowerPoint</Application>
  <PresentationFormat>와이드스크린</PresentationFormat>
  <Paragraphs>380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나눔스퀘어 ExtraBold</vt:lpstr>
      <vt:lpstr>나눔스퀘어</vt:lpstr>
      <vt:lpstr>Calibri</vt:lpstr>
      <vt:lpstr>나눔스퀘어OTF Bold</vt:lpstr>
      <vt:lpstr>Cambria Math</vt:lpstr>
      <vt:lpstr>나눔스퀘어 Bold</vt:lpstr>
      <vt:lpstr>Arial Rounded MT Bold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judy joo</cp:lastModifiedBy>
  <cp:revision>31</cp:revision>
  <dcterms:created xsi:type="dcterms:W3CDTF">2025-07-01T13:14:34Z</dcterms:created>
  <dcterms:modified xsi:type="dcterms:W3CDTF">2025-07-03T02:27:09Z</dcterms:modified>
</cp:coreProperties>
</file>