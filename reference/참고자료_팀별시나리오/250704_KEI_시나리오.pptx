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"/>
  </p:notesMasterIdLst>
  <p:sldIdLst>
    <p:sldId id="1377" r:id="rId2"/>
    <p:sldId id="138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82" userDrawn="1">
          <p15:clr>
            <a:srgbClr val="A4A3A4"/>
          </p15:clr>
        </p15:guide>
        <p15:guide id="2" orient="horz" pos="323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  <p15:guide id="4" pos="2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17E93C-C695-076E-A707-5A5313ECE0EA}" name="Eun Young Kim" initials="EK" userId="e155f204d6a945cc" providerId="Windows Live"/>
  <p188:author id="{A79A824B-3BAA-A0A7-21F4-7FA590CD8451}" name="pink7" initials="p" userId="pink7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8E8F0"/>
    <a:srgbClr val="468CAF"/>
    <a:srgbClr val="F4F4F4"/>
    <a:srgbClr val="73B8E9"/>
    <a:srgbClr val="B2D1E0"/>
    <a:srgbClr val="E3F2EF"/>
    <a:srgbClr val="D6EBF2"/>
    <a:srgbClr val="FBFAF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90411" autoAdjust="0"/>
  </p:normalViewPr>
  <p:slideViewPr>
    <p:cSldViewPr snapToGrid="0">
      <p:cViewPr varScale="1">
        <p:scale>
          <a:sx n="102" d="100"/>
          <a:sy n="102" d="100"/>
        </p:scale>
        <p:origin x="882" y="54"/>
      </p:cViewPr>
      <p:guideLst>
        <p:guide pos="7582"/>
        <p:guide orient="horz" pos="323"/>
        <p:guide orient="horz" pos="2092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6958F-252F-4F24-8197-656D13383D11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026A9-72C3-4DD1-B114-B3B9768E7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7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차년도 연구 수행 내용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026A9-72C3-4DD1-B114-B3B9768E7EE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06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차년도 연구 수행 내용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026A9-72C3-4DD1-B114-B3B9768E7EE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15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3"/>
            <a:ext cx="12191999" cy="68579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646407" y="6633971"/>
            <a:ext cx="381000" cy="139065"/>
          </a:xfrm>
          <a:custGeom>
            <a:avLst/>
            <a:gdLst/>
            <a:ahLst/>
            <a:cxnLst/>
            <a:rect l="l" t="t" r="r" b="b"/>
            <a:pathLst>
              <a:path w="381000" h="139065">
                <a:moveTo>
                  <a:pt x="311658" y="0"/>
                </a:moveTo>
                <a:lnTo>
                  <a:pt x="69342" y="0"/>
                </a:lnTo>
                <a:lnTo>
                  <a:pt x="42326" y="5450"/>
                </a:lnTo>
                <a:lnTo>
                  <a:pt x="20288" y="20312"/>
                </a:lnTo>
                <a:lnTo>
                  <a:pt x="5441" y="42353"/>
                </a:lnTo>
                <a:lnTo>
                  <a:pt x="0" y="69341"/>
                </a:lnTo>
                <a:lnTo>
                  <a:pt x="5441" y="96333"/>
                </a:lnTo>
                <a:lnTo>
                  <a:pt x="20288" y="118374"/>
                </a:lnTo>
                <a:lnTo>
                  <a:pt x="42327" y="133234"/>
                </a:lnTo>
                <a:lnTo>
                  <a:pt x="69342" y="138683"/>
                </a:lnTo>
                <a:lnTo>
                  <a:pt x="311658" y="138683"/>
                </a:lnTo>
                <a:lnTo>
                  <a:pt x="338673" y="133234"/>
                </a:lnTo>
                <a:lnTo>
                  <a:pt x="360712" y="118373"/>
                </a:lnTo>
                <a:lnTo>
                  <a:pt x="375558" y="96332"/>
                </a:lnTo>
                <a:lnTo>
                  <a:pt x="381000" y="69341"/>
                </a:lnTo>
                <a:lnTo>
                  <a:pt x="375558" y="42353"/>
                </a:lnTo>
                <a:lnTo>
                  <a:pt x="360711" y="20312"/>
                </a:lnTo>
                <a:lnTo>
                  <a:pt x="338673" y="5450"/>
                </a:lnTo>
                <a:lnTo>
                  <a:pt x="31165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7441" y="1947164"/>
            <a:ext cx="44005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3905" y="1990598"/>
            <a:ext cx="6553200" cy="294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4545" y="6562521"/>
            <a:ext cx="258445" cy="28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52525"/>
                </a:solidFill>
                <a:latin typeface="Dotum"/>
                <a:cs typeface="Dotum"/>
              </a:defRPr>
            </a:lvl1pPr>
          </a:lstStyle>
          <a:p>
            <a:pPr marL="5334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5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41696E-F812-A953-4869-F1E11F75771B}"/>
              </a:ext>
            </a:extLst>
          </p:cNvPr>
          <p:cNvSpPr txBox="1"/>
          <p:nvPr/>
        </p:nvSpPr>
        <p:spPr>
          <a:xfrm>
            <a:off x="609598" y="589093"/>
            <a:ext cx="42545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Aptos Narrow" panose="020B0004020202020204" pitchFamily="34" charset="0"/>
                <a:ea typeface="Microsoft GothicNeo" panose="020B0500000101010101" pitchFamily="50" charset="-127"/>
                <a:cs typeface="Microsoft GothicNeo" panose="020B0500000101010101" pitchFamily="50" charset="-127"/>
              </a:defRPr>
            </a:lvl1pPr>
          </a:lstStyle>
          <a:p>
            <a:r>
              <a:rPr lang="ko-KR" altLang="en-US" dirty="0"/>
              <a:t>전력부문 온실가스 감축평가모형 개발</a:t>
            </a:r>
            <a:r>
              <a:rPr lang="en-US" altLang="ko-KR" dirty="0"/>
              <a:t>/</a:t>
            </a:r>
            <a:r>
              <a:rPr lang="ko-KR" altLang="en-US" dirty="0"/>
              <a:t>고도화</a:t>
            </a:r>
          </a:p>
        </p:txBody>
      </p:sp>
      <p:pic>
        <p:nvPicPr>
          <p:cNvPr id="11" name="그래픽 19">
            <a:extLst>
              <a:ext uri="{FF2B5EF4-FFF2-40B4-BE49-F238E27FC236}">
                <a16:creationId xmlns:a16="http://schemas.microsoft.com/office/drawing/2014/main" id="{32AA08C8-8AE9-252C-1422-0B6AF90CF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67" name="슬라이드 번호 개체 틀 8">
            <a:extLst>
              <a:ext uri="{FF2B5EF4-FFF2-40B4-BE49-F238E27FC236}">
                <a16:creationId xmlns:a16="http://schemas.microsoft.com/office/drawing/2014/main" id="{280088A9-443A-E2E9-5A16-91B3373EF403}"/>
              </a:ext>
            </a:extLst>
          </p:cNvPr>
          <p:cNvSpPr txBox="1">
            <a:spLocks/>
          </p:cNvSpPr>
          <p:nvPr/>
        </p:nvSpPr>
        <p:spPr>
          <a:xfrm>
            <a:off x="9283506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1</a:t>
            </a:fld>
            <a:endParaRPr lang="ko-KR" altLang="en-US" dirty="0"/>
          </a:p>
        </p:txBody>
      </p:sp>
      <p:grpSp>
        <p:nvGrpSpPr>
          <p:cNvPr id="2" name="그룹 11">
            <a:extLst>
              <a:ext uri="{FF2B5EF4-FFF2-40B4-BE49-F238E27FC236}">
                <a16:creationId xmlns:a16="http://schemas.microsoft.com/office/drawing/2014/main" id="{F2064731-9AB1-F34C-C661-42B6F8848776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13">
              <a:extLst>
                <a:ext uri="{FF2B5EF4-FFF2-40B4-BE49-F238E27FC236}">
                  <a16:creationId xmlns:a16="http://schemas.microsoft.com/office/drawing/2014/main" id="{16FE5AD7-1000-67CC-DAC2-E864A66CD720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4">
              <a:extLst>
                <a:ext uri="{FF2B5EF4-FFF2-40B4-BE49-F238E27FC236}">
                  <a16:creationId xmlns:a16="http://schemas.microsoft.com/office/drawing/2014/main" id="{A344FC45-75F9-713B-6F39-6BC85DD0CED2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타원 16">
              <a:extLst>
                <a:ext uri="{FF2B5EF4-FFF2-40B4-BE49-F238E27FC236}">
                  <a16:creationId xmlns:a16="http://schemas.microsoft.com/office/drawing/2014/main" id="{41B04C6D-E8A4-FFD3-FF3D-6CB7BDE36C56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0B7AA6-597F-D241-6E7B-7034BFF0FD2D}"/>
              </a:ext>
            </a:extLst>
          </p:cNvPr>
          <p:cNvSpPr txBox="1"/>
          <p:nvPr/>
        </p:nvSpPr>
        <p:spPr>
          <a:xfrm>
            <a:off x="333374" y="208166"/>
            <a:ext cx="50711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주관</a:t>
            </a:r>
            <a:r>
              <a:rPr lang="en-US" altLang="ko-KR" dirty="0"/>
              <a:t>1] </a:t>
            </a:r>
            <a:r>
              <a:rPr lang="ko-KR" altLang="en-US" dirty="0"/>
              <a:t>한국환경연구원</a:t>
            </a:r>
          </a:p>
        </p:txBody>
      </p:sp>
      <p:sp>
        <p:nvSpPr>
          <p:cNvPr id="15" name="사각형: 둥근 모서리 32">
            <a:extLst>
              <a:ext uri="{FF2B5EF4-FFF2-40B4-BE49-F238E27FC236}">
                <a16:creationId xmlns:a16="http://schemas.microsoft.com/office/drawing/2014/main" id="{422C7FCA-4F35-35B8-80E0-A4E25E06DEBF}"/>
              </a:ext>
            </a:extLst>
          </p:cNvPr>
          <p:cNvSpPr/>
          <p:nvPr/>
        </p:nvSpPr>
        <p:spPr>
          <a:xfrm>
            <a:off x="4721087" y="364922"/>
            <a:ext cx="7305619" cy="648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" name="그룹 10">
            <a:extLst>
              <a:ext uri="{FF2B5EF4-FFF2-40B4-BE49-F238E27FC236}">
                <a16:creationId xmlns:a16="http://schemas.microsoft.com/office/drawing/2014/main" id="{B08FCCBD-5FC8-40C3-9A8C-33960C85FE46}"/>
              </a:ext>
            </a:extLst>
          </p:cNvPr>
          <p:cNvGrpSpPr/>
          <p:nvPr/>
        </p:nvGrpSpPr>
        <p:grpSpPr>
          <a:xfrm>
            <a:off x="1191564" y="2792555"/>
            <a:ext cx="3457205" cy="356839"/>
            <a:chOff x="1103158" y="1235955"/>
            <a:chExt cx="1581193" cy="356839"/>
          </a:xfrm>
        </p:grpSpPr>
        <p:sp>
          <p:nvSpPr>
            <p:cNvPr id="41" name="사다리꼴 11">
              <a:extLst>
                <a:ext uri="{FF2B5EF4-FFF2-40B4-BE49-F238E27FC236}">
                  <a16:creationId xmlns:a16="http://schemas.microsoft.com/office/drawing/2014/main" id="{32BFDE94-D7D8-4A89-A6A4-5B4074B31BB1}"/>
                </a:ext>
              </a:extLst>
            </p:cNvPr>
            <p:cNvSpPr/>
            <p:nvPr/>
          </p:nvSpPr>
          <p:spPr>
            <a:xfrm>
              <a:off x="1103158" y="1282945"/>
              <a:ext cx="1581193" cy="309849"/>
            </a:xfrm>
            <a:prstGeom prst="trapezoid">
              <a:avLst/>
            </a:prstGeom>
            <a:solidFill>
              <a:srgbClr val="3D7A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모서리가 둥근 직사각형 35">
              <a:extLst>
                <a:ext uri="{FF2B5EF4-FFF2-40B4-BE49-F238E27FC236}">
                  <a16:creationId xmlns:a16="http://schemas.microsoft.com/office/drawing/2014/main" id="{4E1407D7-7D21-45AB-B9F3-73CD2162A30E}"/>
                </a:ext>
              </a:extLst>
            </p:cNvPr>
            <p:cNvSpPr/>
            <p:nvPr/>
          </p:nvSpPr>
          <p:spPr>
            <a:xfrm>
              <a:off x="1177669" y="1235955"/>
              <a:ext cx="1430904" cy="356839"/>
            </a:xfrm>
            <a:prstGeom prst="roundRect">
              <a:avLst/>
            </a:prstGeom>
            <a:gradFill flip="none" rotWithShape="1">
              <a:gsLst>
                <a:gs pos="0">
                  <a:srgbClr val="9ED4C8"/>
                </a:gs>
                <a:gs pos="100000">
                  <a:srgbClr val="468CA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n-cs"/>
                </a:rPr>
                <a:t>BAU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endParaRPr>
            </a:p>
          </p:txBody>
        </p:sp>
      </p:grpSp>
      <p:sp>
        <p:nvSpPr>
          <p:cNvPr id="43" name="사각형: 둥근 모서리 15">
            <a:extLst>
              <a:ext uri="{FF2B5EF4-FFF2-40B4-BE49-F238E27FC236}">
                <a16:creationId xmlns:a16="http://schemas.microsoft.com/office/drawing/2014/main" id="{3A92446B-2669-4650-9078-FE3BA52AE148}"/>
              </a:ext>
            </a:extLst>
          </p:cNvPr>
          <p:cNvSpPr/>
          <p:nvPr/>
        </p:nvSpPr>
        <p:spPr>
          <a:xfrm>
            <a:off x="300988" y="3389851"/>
            <a:ext cx="5522351" cy="2656222"/>
          </a:xfrm>
          <a:prstGeom prst="roundRect">
            <a:avLst>
              <a:gd name="adj" fmla="val 5577"/>
            </a:avLst>
          </a:prstGeom>
          <a:noFill/>
          <a:ln>
            <a:solidFill>
              <a:srgbClr val="73B9E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모서리가 둥근 직사각형 4">
            <a:extLst>
              <a:ext uri="{FF2B5EF4-FFF2-40B4-BE49-F238E27FC236}">
                <a16:creationId xmlns:a16="http://schemas.microsoft.com/office/drawing/2014/main" id="{847B7E00-65F1-406E-B727-C889AC95E670}"/>
              </a:ext>
            </a:extLst>
          </p:cNvPr>
          <p:cNvSpPr/>
          <p:nvPr/>
        </p:nvSpPr>
        <p:spPr>
          <a:xfrm>
            <a:off x="425395" y="3745266"/>
            <a:ext cx="5288700" cy="20148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온실가스 배출 경로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2030 NDC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2050 NetZero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미달성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전력수요 </a:t>
            </a: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증감율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moderate increases(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과거 기준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증가율 적용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기술발전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moderate progress (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기술전망의 중간 수준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option: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전통발전원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재생에너지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ESS, +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제한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(CCS,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DAC,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수소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연료가격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IEA APS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6" name="그룹 27">
            <a:extLst>
              <a:ext uri="{FF2B5EF4-FFF2-40B4-BE49-F238E27FC236}">
                <a16:creationId xmlns:a16="http://schemas.microsoft.com/office/drawing/2014/main" id="{59E4AC1F-5F0F-41CC-86A3-C8A374FB5013}"/>
              </a:ext>
            </a:extLst>
          </p:cNvPr>
          <p:cNvGrpSpPr/>
          <p:nvPr/>
        </p:nvGrpSpPr>
        <p:grpSpPr>
          <a:xfrm>
            <a:off x="7111375" y="2795380"/>
            <a:ext cx="3457205" cy="356839"/>
            <a:chOff x="1103158" y="1235955"/>
            <a:chExt cx="1581193" cy="356839"/>
          </a:xfrm>
        </p:grpSpPr>
        <p:sp>
          <p:nvSpPr>
            <p:cNvPr id="47" name="사다리꼴 28">
              <a:extLst>
                <a:ext uri="{FF2B5EF4-FFF2-40B4-BE49-F238E27FC236}">
                  <a16:creationId xmlns:a16="http://schemas.microsoft.com/office/drawing/2014/main" id="{26A6A64D-1632-4536-90AC-B73229F777D2}"/>
                </a:ext>
              </a:extLst>
            </p:cNvPr>
            <p:cNvSpPr/>
            <p:nvPr/>
          </p:nvSpPr>
          <p:spPr>
            <a:xfrm>
              <a:off x="1103158" y="1282945"/>
              <a:ext cx="1581193" cy="309849"/>
            </a:xfrm>
            <a:prstGeom prst="trapezoid">
              <a:avLst/>
            </a:prstGeom>
            <a:solidFill>
              <a:srgbClr val="3D7A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모서리가 둥근 직사각형 35">
              <a:extLst>
                <a:ext uri="{FF2B5EF4-FFF2-40B4-BE49-F238E27FC236}">
                  <a16:creationId xmlns:a16="http://schemas.microsoft.com/office/drawing/2014/main" id="{0C3CA0ED-A042-4C66-AEA7-8C6717318F21}"/>
                </a:ext>
              </a:extLst>
            </p:cNvPr>
            <p:cNvSpPr/>
            <p:nvPr/>
          </p:nvSpPr>
          <p:spPr>
            <a:xfrm>
              <a:off x="1177669" y="1235955"/>
              <a:ext cx="1430904" cy="356839"/>
            </a:xfrm>
            <a:prstGeom prst="roundRect">
              <a:avLst/>
            </a:prstGeom>
            <a:gradFill flip="none" rotWithShape="1">
              <a:gsLst>
                <a:gs pos="0">
                  <a:srgbClr val="9ED4C8"/>
                </a:gs>
                <a:gs pos="100000">
                  <a:srgbClr val="468CA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n-cs"/>
                </a:rPr>
                <a:t>NetZero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endParaRPr>
            </a:p>
          </p:txBody>
        </p:sp>
      </p:grpSp>
      <p:sp>
        <p:nvSpPr>
          <p:cNvPr id="50" name="사각형: 둥근 모서리 15">
            <a:extLst>
              <a:ext uri="{FF2B5EF4-FFF2-40B4-BE49-F238E27FC236}">
                <a16:creationId xmlns:a16="http://schemas.microsoft.com/office/drawing/2014/main" id="{D270C8E5-28FC-4F83-998E-6B8575E15A3D}"/>
              </a:ext>
            </a:extLst>
          </p:cNvPr>
          <p:cNvSpPr/>
          <p:nvPr/>
        </p:nvSpPr>
        <p:spPr>
          <a:xfrm>
            <a:off x="6072157" y="3394432"/>
            <a:ext cx="5522351" cy="2703222"/>
          </a:xfrm>
          <a:prstGeom prst="roundRect">
            <a:avLst>
              <a:gd name="adj" fmla="val 5577"/>
            </a:avLst>
          </a:prstGeom>
          <a:noFill/>
          <a:ln>
            <a:solidFill>
              <a:srgbClr val="73B9E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모서리가 둥근 직사각형 4">
            <a:extLst>
              <a:ext uri="{FF2B5EF4-FFF2-40B4-BE49-F238E27FC236}">
                <a16:creationId xmlns:a16="http://schemas.microsoft.com/office/drawing/2014/main" id="{AE11D72C-94AC-4E9E-9E2D-64AC1EB0FC27}"/>
              </a:ext>
            </a:extLst>
          </p:cNvPr>
          <p:cNvSpPr/>
          <p:nvPr/>
        </p:nvSpPr>
        <p:spPr>
          <a:xfrm>
            <a:off x="6209541" y="3749846"/>
            <a:ext cx="5271334" cy="20702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온실가스 배출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2030 NDC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2050 NetZero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달성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전력수요 </a:t>
            </a: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증감율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 rapid increases (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전력화 발생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전기차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수소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히트펌프 등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기술발전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rapid progress (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기술전망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high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수준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option: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전통발전원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재생에너지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ESS, +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보급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(CCS,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DAC,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수소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연료가격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IEA net Zero </a:t>
            </a:r>
          </a:p>
          <a:p>
            <a:pPr marL="171450" marR="0" lvl="0" indent="-171450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모서리가 둥근 직사각형 4">
            <a:extLst>
              <a:ext uri="{FF2B5EF4-FFF2-40B4-BE49-F238E27FC236}">
                <a16:creationId xmlns:a16="http://schemas.microsoft.com/office/drawing/2014/main" id="{2F7FC0FC-AC73-40A3-A10B-BCC29B79EEF3}"/>
              </a:ext>
            </a:extLst>
          </p:cNvPr>
          <p:cNvSpPr/>
          <p:nvPr/>
        </p:nvSpPr>
        <p:spPr>
          <a:xfrm>
            <a:off x="484988" y="1086244"/>
            <a:ext cx="7186594" cy="14203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기간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2017~2050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또는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2060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결정 변수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설비용량 및 발전량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=&gt;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배출량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전력믹스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전력비용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시나리오변수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전력수요 변화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기후정책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배출량 제약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vs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탄소가격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기타정책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송전망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연계 등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주요 이슈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: SSP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시나리오에서 주요 변수의 데이터 활용 여부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74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41696E-F812-A953-4869-F1E11F75771B}"/>
              </a:ext>
            </a:extLst>
          </p:cNvPr>
          <p:cNvSpPr txBox="1"/>
          <p:nvPr/>
        </p:nvSpPr>
        <p:spPr>
          <a:xfrm>
            <a:off x="609598" y="589093"/>
            <a:ext cx="42545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Aptos Narrow" panose="020B0004020202020204" pitchFamily="34" charset="0"/>
                <a:ea typeface="Microsoft GothicNeo" panose="020B0500000101010101" pitchFamily="50" charset="-127"/>
                <a:cs typeface="Microsoft GothicNeo" panose="020B0500000101010101" pitchFamily="50" charset="-127"/>
              </a:defRPr>
            </a:lvl1pPr>
          </a:lstStyle>
          <a:p>
            <a:r>
              <a:rPr lang="ko-KR" altLang="en-US" dirty="0"/>
              <a:t>전력부문 온실가스 감축평가모형 개발</a:t>
            </a:r>
            <a:r>
              <a:rPr lang="en-US" altLang="ko-KR" dirty="0"/>
              <a:t>/</a:t>
            </a:r>
            <a:r>
              <a:rPr lang="ko-KR" altLang="en-US" dirty="0"/>
              <a:t>고도화</a:t>
            </a:r>
          </a:p>
        </p:txBody>
      </p:sp>
      <p:pic>
        <p:nvPicPr>
          <p:cNvPr id="11" name="그래픽 19">
            <a:extLst>
              <a:ext uri="{FF2B5EF4-FFF2-40B4-BE49-F238E27FC236}">
                <a16:creationId xmlns:a16="http://schemas.microsoft.com/office/drawing/2014/main" id="{32AA08C8-8AE9-252C-1422-0B6AF90CF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67" name="슬라이드 번호 개체 틀 8">
            <a:extLst>
              <a:ext uri="{FF2B5EF4-FFF2-40B4-BE49-F238E27FC236}">
                <a16:creationId xmlns:a16="http://schemas.microsoft.com/office/drawing/2014/main" id="{280088A9-443A-E2E9-5A16-91B3373EF403}"/>
              </a:ext>
            </a:extLst>
          </p:cNvPr>
          <p:cNvSpPr txBox="1">
            <a:spLocks/>
          </p:cNvSpPr>
          <p:nvPr/>
        </p:nvSpPr>
        <p:spPr>
          <a:xfrm>
            <a:off x="9283506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2</a:t>
            </a:fld>
            <a:endParaRPr lang="ko-KR" altLang="en-US" dirty="0"/>
          </a:p>
        </p:txBody>
      </p:sp>
      <p:grpSp>
        <p:nvGrpSpPr>
          <p:cNvPr id="2" name="그룹 11">
            <a:extLst>
              <a:ext uri="{FF2B5EF4-FFF2-40B4-BE49-F238E27FC236}">
                <a16:creationId xmlns:a16="http://schemas.microsoft.com/office/drawing/2014/main" id="{F2064731-9AB1-F34C-C661-42B6F8848776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13">
              <a:extLst>
                <a:ext uri="{FF2B5EF4-FFF2-40B4-BE49-F238E27FC236}">
                  <a16:creationId xmlns:a16="http://schemas.microsoft.com/office/drawing/2014/main" id="{16FE5AD7-1000-67CC-DAC2-E864A66CD720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4">
              <a:extLst>
                <a:ext uri="{FF2B5EF4-FFF2-40B4-BE49-F238E27FC236}">
                  <a16:creationId xmlns:a16="http://schemas.microsoft.com/office/drawing/2014/main" id="{A344FC45-75F9-713B-6F39-6BC85DD0CED2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타원 16">
              <a:extLst>
                <a:ext uri="{FF2B5EF4-FFF2-40B4-BE49-F238E27FC236}">
                  <a16:creationId xmlns:a16="http://schemas.microsoft.com/office/drawing/2014/main" id="{41B04C6D-E8A4-FFD3-FF3D-6CB7BDE36C56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0B7AA6-597F-D241-6E7B-7034BFF0FD2D}"/>
              </a:ext>
            </a:extLst>
          </p:cNvPr>
          <p:cNvSpPr txBox="1"/>
          <p:nvPr/>
        </p:nvSpPr>
        <p:spPr>
          <a:xfrm>
            <a:off x="333374" y="208166"/>
            <a:ext cx="50711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defRPr>
            </a:lvl1pPr>
          </a:lstStyle>
          <a:p>
            <a:r>
              <a:rPr lang="en-US" altLang="ko-KR" dirty="0"/>
              <a:t>2-2. [</a:t>
            </a:r>
            <a:r>
              <a:rPr lang="ko-KR" altLang="en-US" dirty="0"/>
              <a:t>주관</a:t>
            </a:r>
            <a:r>
              <a:rPr lang="en-US" altLang="ko-KR" dirty="0"/>
              <a:t>1] </a:t>
            </a:r>
            <a:r>
              <a:rPr lang="ko-KR" altLang="en-US" dirty="0"/>
              <a:t>한국환경연구원 연구 수행 내용</a:t>
            </a:r>
          </a:p>
        </p:txBody>
      </p:sp>
      <p:sp>
        <p:nvSpPr>
          <p:cNvPr id="15" name="사각형: 둥근 모서리 32">
            <a:extLst>
              <a:ext uri="{FF2B5EF4-FFF2-40B4-BE49-F238E27FC236}">
                <a16:creationId xmlns:a16="http://schemas.microsoft.com/office/drawing/2014/main" id="{422C7FCA-4F35-35B8-80E0-A4E25E06DEBF}"/>
              </a:ext>
            </a:extLst>
          </p:cNvPr>
          <p:cNvSpPr/>
          <p:nvPr/>
        </p:nvSpPr>
        <p:spPr>
          <a:xfrm>
            <a:off x="4721087" y="364922"/>
            <a:ext cx="7305619" cy="648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0384B7-C420-43B2-A7F3-B4C46AC528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4" y="2320318"/>
            <a:ext cx="5411680" cy="30817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A2ABF3-DA05-43C3-BBA1-2ECE1DFDD4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611" y="2320318"/>
            <a:ext cx="5322065" cy="30817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E4CC2F-8E3F-4A1F-91F0-383C951A6FC8}"/>
              </a:ext>
            </a:extLst>
          </p:cNvPr>
          <p:cNvSpPr txBox="1"/>
          <p:nvPr/>
        </p:nvSpPr>
        <p:spPr>
          <a:xfrm>
            <a:off x="942535" y="1439316"/>
            <a:ext cx="3301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KoPubWorld돋움체 Light" panose="00000300000000000000" pitchFamily="2" charset="-127"/>
              </a:rPr>
              <a:t>NetZero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KoPubWorld돋움체 Light" panose="00000300000000000000" pitchFamily="2" charset="-127"/>
              </a:rPr>
              <a:t>시나리오 결과 예시</a:t>
            </a:r>
          </a:p>
        </p:txBody>
      </p:sp>
    </p:spTree>
    <p:extLst>
      <p:ext uri="{BB962C8B-B14F-4D97-AF65-F5344CB8AC3E}">
        <p14:creationId xmlns:p14="http://schemas.microsoft.com/office/powerpoint/2010/main" val="76281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206</Words>
  <Application>Microsoft Office PowerPoint</Application>
  <PresentationFormat>와이드스크린</PresentationFormat>
  <Paragraphs>38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Aptos Narrow</vt:lpstr>
      <vt:lpstr>KoPub돋움체 Light</vt:lpstr>
      <vt:lpstr>Microsoft GothicNeo</vt:lpstr>
      <vt:lpstr>Source Han Sans KR</vt:lpstr>
      <vt:lpstr>나눔스퀘어</vt:lpstr>
      <vt:lpstr>나눔스퀘어 ExtraBold</vt:lpstr>
      <vt:lpstr>Dotum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이채연</dc:creator>
  <cp:lastModifiedBy>choi hyungsik</cp:lastModifiedBy>
  <cp:revision>375</cp:revision>
  <dcterms:created xsi:type="dcterms:W3CDTF">2024-04-09T04:50:08Z</dcterms:created>
  <dcterms:modified xsi:type="dcterms:W3CDTF">2025-07-04T01:23:35Z</dcterms:modified>
</cp:coreProperties>
</file>