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1047" r:id="rId3"/>
    <p:sldId id="1048" r:id="rId4"/>
    <p:sldId id="1044" r:id="rId5"/>
    <p:sldId id="1049" r:id="rId6"/>
    <p:sldId id="104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orient="horz" pos="595" userDrawn="1">
          <p15:clr>
            <a:srgbClr val="A4A3A4"/>
          </p15:clr>
        </p15:guide>
        <p15:guide id="4" pos="7287" userDrawn="1">
          <p15:clr>
            <a:srgbClr val="A4A3A4"/>
          </p15:clr>
        </p15:guide>
        <p15:guide id="5" pos="7537" userDrawn="1">
          <p15:clr>
            <a:srgbClr val="A4A3A4"/>
          </p15:clr>
        </p15:guide>
        <p15:guide id="6" orient="horz" pos="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620E7D-33AB-4CCB-8818-7286CC905E00}" v="2" dt="2025-07-01T03:15:19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0" autoAdjust="0"/>
    <p:restoredTop sz="94660"/>
  </p:normalViewPr>
  <p:slideViewPr>
    <p:cSldViewPr snapToGrid="0" showGuides="1">
      <p:cViewPr varScale="1">
        <p:scale>
          <a:sx n="139" d="100"/>
          <a:sy n="139" d="100"/>
        </p:scale>
        <p:origin x="1098" y="342"/>
      </p:cViewPr>
      <p:guideLst>
        <p:guide orient="horz" pos="2160"/>
        <p:guide pos="393"/>
        <p:guide orient="horz" pos="595"/>
        <p:guide pos="7287"/>
        <p:guide pos="7537"/>
        <p:guide orient="horz" pos="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BFA53-52DD-426A-A69F-D2A0EF8ACB3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87F0A-BED5-4D00-B3EF-C675CE90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4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FB83B-0BB0-6A00-B44E-57AA4E28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0B0E2-C7A0-F3E2-7240-AA6B5B9F1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2206A6-8826-FEBC-6C2D-53099942B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9BC80-F222-84FA-EEB0-0E71FC76E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87F0A-BED5-4D00-B3EF-C675CE90A0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0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C15C4-C38F-716E-E0D8-A7B68EA0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E2283-1ECE-E8FF-B8BC-4D071DC87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8806E-E8C8-15A3-B9D7-ADA5318EB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A272E-C3E5-08B9-F021-00B4E327F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87F0A-BED5-4D00-B3EF-C675CE90A0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02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87F0A-BED5-4D00-B3EF-C675CE90A0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41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52525"/>
                </a:solidFill>
                <a:latin typeface="Dotum"/>
                <a:cs typeface="Dotum"/>
              </a:defRPr>
            </a:lvl1pPr>
          </a:lstStyle>
          <a:p>
            <a:pPr marL="5334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66504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52525"/>
                </a:solidFill>
                <a:latin typeface="Dotum"/>
                <a:cs typeface="Dotum"/>
              </a:defRPr>
            </a:lvl1pPr>
          </a:lstStyle>
          <a:p>
            <a:pPr marL="5334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615953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52525"/>
                </a:solidFill>
                <a:latin typeface="Dotum"/>
                <a:cs typeface="Dotum"/>
              </a:defRPr>
            </a:lvl1pPr>
          </a:lstStyle>
          <a:p>
            <a:pPr marL="5334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25079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EE7BC-7247-90DB-6794-9D9A6CCE0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93562-3E16-9A23-4328-7DABB4ADD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BD8CD-C2F3-3FD0-1116-D05318D15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2F3A-D311-4513-908D-95CCBE01218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D9015-DAD0-B15E-7F9A-61F5B201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428F6-D55D-C870-73BF-2F122529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74013-A174-42CD-8073-17DE26C9F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2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53"/>
            <a:ext cx="12191999" cy="685794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646407" y="6633971"/>
            <a:ext cx="381000" cy="139065"/>
          </a:xfrm>
          <a:custGeom>
            <a:avLst/>
            <a:gdLst/>
            <a:ahLst/>
            <a:cxnLst/>
            <a:rect l="l" t="t" r="r" b="b"/>
            <a:pathLst>
              <a:path w="381000" h="139065">
                <a:moveTo>
                  <a:pt x="311658" y="0"/>
                </a:moveTo>
                <a:lnTo>
                  <a:pt x="69342" y="0"/>
                </a:lnTo>
                <a:lnTo>
                  <a:pt x="42326" y="5450"/>
                </a:lnTo>
                <a:lnTo>
                  <a:pt x="20288" y="20312"/>
                </a:lnTo>
                <a:lnTo>
                  <a:pt x="5441" y="42353"/>
                </a:lnTo>
                <a:lnTo>
                  <a:pt x="0" y="69341"/>
                </a:lnTo>
                <a:lnTo>
                  <a:pt x="5441" y="96333"/>
                </a:lnTo>
                <a:lnTo>
                  <a:pt x="20288" y="118374"/>
                </a:lnTo>
                <a:lnTo>
                  <a:pt x="42327" y="133234"/>
                </a:lnTo>
                <a:lnTo>
                  <a:pt x="69342" y="138683"/>
                </a:lnTo>
                <a:lnTo>
                  <a:pt x="311658" y="138683"/>
                </a:lnTo>
                <a:lnTo>
                  <a:pt x="338673" y="133234"/>
                </a:lnTo>
                <a:lnTo>
                  <a:pt x="360712" y="118373"/>
                </a:lnTo>
                <a:lnTo>
                  <a:pt x="375558" y="96332"/>
                </a:lnTo>
                <a:lnTo>
                  <a:pt x="381000" y="69341"/>
                </a:lnTo>
                <a:lnTo>
                  <a:pt x="375558" y="42353"/>
                </a:lnTo>
                <a:lnTo>
                  <a:pt x="360711" y="20312"/>
                </a:lnTo>
                <a:lnTo>
                  <a:pt x="338673" y="5450"/>
                </a:lnTo>
                <a:lnTo>
                  <a:pt x="31165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7441" y="1947164"/>
            <a:ext cx="44005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3905" y="1990598"/>
            <a:ext cx="6553200" cy="294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4545" y="6562521"/>
            <a:ext cx="258445" cy="28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52525"/>
                </a:solidFill>
                <a:latin typeface="Dotum"/>
                <a:cs typeface="Dotum"/>
              </a:defRPr>
            </a:lvl1pPr>
          </a:lstStyle>
          <a:p>
            <a:pPr marL="5334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95891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5.emf"/><Relationship Id="rId5" Type="http://schemas.openxmlformats.org/officeDocument/2006/relationships/image" Target="../media/image12.png"/><Relationship Id="rId10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5.emf"/><Relationship Id="rId12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2.png"/><Relationship Id="rId5" Type="http://schemas.openxmlformats.org/officeDocument/2006/relationships/image" Target="../media/image13.png"/><Relationship Id="rId10" Type="http://schemas.openxmlformats.org/officeDocument/2006/relationships/image" Target="../media/image21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6.jp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 descr="스키 타기, 클립아트, 그래픽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D9A11424-0B82-48B0-2D49-F506623C50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62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B105276-A5F6-C530-2A51-B10EEFD7003F}"/>
              </a:ext>
            </a:extLst>
          </p:cNvPr>
          <p:cNvSpPr txBox="1"/>
          <p:nvPr/>
        </p:nvSpPr>
        <p:spPr>
          <a:xfrm>
            <a:off x="660965" y="2843139"/>
            <a:ext cx="335384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2025.07.04.(</a:t>
            </a: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금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61A914-085F-2257-5696-DB25799995AF}"/>
              </a:ext>
            </a:extLst>
          </p:cNvPr>
          <p:cNvSpPr txBox="1"/>
          <p:nvPr/>
        </p:nvSpPr>
        <p:spPr>
          <a:xfrm>
            <a:off x="660965" y="2489691"/>
            <a:ext cx="6151171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2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차년도 </a:t>
            </a:r>
            <a:r>
              <a:rPr lang="en-US" altLang="ko-KR" sz="2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분기 전체회의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344988C-50D3-DAC7-6FD5-7BABA330BF6A}"/>
              </a:ext>
            </a:extLst>
          </p:cNvPr>
          <p:cNvGrpSpPr/>
          <p:nvPr/>
        </p:nvGrpSpPr>
        <p:grpSpPr>
          <a:xfrm>
            <a:off x="328352" y="1116080"/>
            <a:ext cx="277177" cy="2161970"/>
            <a:chOff x="328352" y="535509"/>
            <a:chExt cx="277177" cy="2161970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1A2594C-60A5-FAA4-7684-7D4F75E83913}"/>
                </a:ext>
              </a:extLst>
            </p:cNvPr>
            <p:cNvSpPr/>
            <p:nvPr/>
          </p:nvSpPr>
          <p:spPr>
            <a:xfrm>
              <a:off x="383788" y="535509"/>
              <a:ext cx="221741" cy="16945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023FD1A-2893-6128-655C-06905C5828C4}"/>
                </a:ext>
              </a:extLst>
            </p:cNvPr>
            <p:cNvSpPr/>
            <p:nvPr/>
          </p:nvSpPr>
          <p:spPr>
            <a:xfrm>
              <a:off x="328352" y="1267582"/>
              <a:ext cx="159328" cy="142989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55EFE04-5EE7-DEC0-8636-FE35BE786DE8}"/>
              </a:ext>
            </a:extLst>
          </p:cNvPr>
          <p:cNvSpPr txBox="1"/>
          <p:nvPr/>
        </p:nvSpPr>
        <p:spPr>
          <a:xfrm>
            <a:off x="622621" y="1267746"/>
            <a:ext cx="61895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탄소중립 이행을 위한</a:t>
            </a:r>
            <a:endParaRPr lang="en-US" altLang="ko-KR" sz="4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407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ko-KR" altLang="en-US" sz="4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글로벌 통합평가모형 개발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8FA5F2-8458-ED3F-F112-7C457061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C090-0D39-4590-AD61-697590D96D14}" type="slidenum">
              <a:rPr lang="ko-KR" altLang="en-US" smtClean="0"/>
              <a:t>1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FB7E5FE-AE6A-9BE9-668B-21E7DC6C0EFA}"/>
              </a:ext>
            </a:extLst>
          </p:cNvPr>
          <p:cNvGrpSpPr/>
          <p:nvPr/>
        </p:nvGrpSpPr>
        <p:grpSpPr>
          <a:xfrm>
            <a:off x="6191250" y="6404129"/>
            <a:ext cx="5844128" cy="380846"/>
            <a:chOff x="6191250" y="6404129"/>
            <a:chExt cx="5844128" cy="380846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182FDE47-FD16-4EFD-B430-7A5A1E333A54}"/>
                </a:ext>
              </a:extLst>
            </p:cNvPr>
            <p:cNvGrpSpPr/>
            <p:nvPr/>
          </p:nvGrpSpPr>
          <p:grpSpPr>
            <a:xfrm>
              <a:off x="6191250" y="6404129"/>
              <a:ext cx="4298264" cy="370402"/>
              <a:chOff x="367968" y="7177179"/>
              <a:chExt cx="4695929" cy="404671"/>
            </a:xfrm>
          </p:grpSpPr>
          <p:pic>
            <p:nvPicPr>
              <p:cNvPr id="6" name="그래픽 5">
                <a:extLst>
                  <a:ext uri="{FF2B5EF4-FFF2-40B4-BE49-F238E27FC236}">
                    <a16:creationId xmlns:a16="http://schemas.microsoft.com/office/drawing/2014/main" id="{1749F792-6336-88E8-85C6-8B9784196F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7968" y="7228154"/>
                <a:ext cx="1140796" cy="353696"/>
              </a:xfrm>
              <a:prstGeom prst="rect">
                <a:avLst/>
              </a:prstGeom>
            </p:spPr>
          </p:pic>
          <p:pic>
            <p:nvPicPr>
              <p:cNvPr id="7" name="그래픽 6">
                <a:extLst>
                  <a:ext uri="{FF2B5EF4-FFF2-40B4-BE49-F238E27FC236}">
                    <a16:creationId xmlns:a16="http://schemas.microsoft.com/office/drawing/2014/main" id="{44698CCF-69FB-55EE-E2AC-3F032FD05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498354" y="7228154"/>
                <a:ext cx="1565543" cy="353696"/>
              </a:xfrm>
              <a:prstGeom prst="rect">
                <a:avLst/>
              </a:prstGeom>
            </p:spPr>
          </p:pic>
          <p:pic>
            <p:nvPicPr>
              <p:cNvPr id="8" name="그래픽 7">
                <a:extLst>
                  <a:ext uri="{FF2B5EF4-FFF2-40B4-BE49-F238E27FC236}">
                    <a16:creationId xmlns:a16="http://schemas.microsoft.com/office/drawing/2014/main" id="{315A5A24-6DAF-A100-9EBC-C9EA86517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665973" y="7177179"/>
                <a:ext cx="1650582" cy="353696"/>
              </a:xfrm>
              <a:prstGeom prst="rect">
                <a:avLst/>
              </a:prstGeom>
            </p:spPr>
          </p:pic>
        </p:grp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D95F987-33E9-11FB-520E-6CFB9772F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2410" y="6404129"/>
              <a:ext cx="1432968" cy="3808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5029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10FAF-7619-BDAD-B8EF-2538AF45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object 105">
            <a:extLst>
              <a:ext uri="{FF2B5EF4-FFF2-40B4-BE49-F238E27FC236}">
                <a16:creationId xmlns:a16="http://schemas.microsoft.com/office/drawing/2014/main" id="{7A7656DD-A80C-B4DB-D0F3-ED70A496CB46}"/>
              </a:ext>
            </a:extLst>
          </p:cNvPr>
          <p:cNvGrpSpPr/>
          <p:nvPr/>
        </p:nvGrpSpPr>
        <p:grpSpPr>
          <a:xfrm>
            <a:off x="300227" y="272795"/>
            <a:ext cx="66040" cy="242570"/>
            <a:chOff x="300227" y="272795"/>
            <a:chExt cx="66040" cy="242570"/>
          </a:xfrm>
        </p:grpSpPr>
        <p:pic>
          <p:nvPicPr>
            <p:cNvPr id="106" name="object 106">
              <a:extLst>
                <a:ext uri="{FF2B5EF4-FFF2-40B4-BE49-F238E27FC236}">
                  <a16:creationId xmlns:a16="http://schemas.microsoft.com/office/drawing/2014/main" id="{A64ED33B-AF0A-A079-8C1F-D40EAFAC7C1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227" y="272795"/>
              <a:ext cx="65532" cy="64007"/>
            </a:xfrm>
            <a:prstGeom prst="rect">
              <a:avLst/>
            </a:prstGeom>
          </p:spPr>
        </p:pic>
        <p:pic>
          <p:nvPicPr>
            <p:cNvPr id="107" name="object 107">
              <a:extLst>
                <a:ext uri="{FF2B5EF4-FFF2-40B4-BE49-F238E27FC236}">
                  <a16:creationId xmlns:a16="http://schemas.microsoft.com/office/drawing/2014/main" id="{21F80767-382E-582D-0447-242C8B200DC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227" y="361187"/>
              <a:ext cx="65532" cy="65532"/>
            </a:xfrm>
            <a:prstGeom prst="rect">
              <a:avLst/>
            </a:prstGeom>
          </p:spPr>
        </p:pic>
        <p:pic>
          <p:nvPicPr>
            <p:cNvPr id="108" name="object 108">
              <a:extLst>
                <a:ext uri="{FF2B5EF4-FFF2-40B4-BE49-F238E27FC236}">
                  <a16:creationId xmlns:a16="http://schemas.microsoft.com/office/drawing/2014/main" id="{A5CA9F13-696E-E8C6-16A6-AAF58BDDFBF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227" y="451103"/>
              <a:ext cx="65532" cy="64008"/>
            </a:xfrm>
            <a:prstGeom prst="rect">
              <a:avLst/>
            </a:prstGeom>
          </p:spPr>
        </p:pic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D2FAC44E-EAF9-780C-20F7-9E70B1A94F9F}"/>
              </a:ext>
            </a:extLst>
          </p:cNvPr>
          <p:cNvSpPr txBox="1"/>
          <p:nvPr/>
        </p:nvSpPr>
        <p:spPr>
          <a:xfrm>
            <a:off x="422275" y="208166"/>
            <a:ext cx="42132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</a:t>
            </a:r>
            <a:r>
              <a:rPr lang="ko-KR" altLang="en-US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총괄</a:t>
            </a:r>
            <a:r>
              <a:rPr lang="en-US" altLang="ko-KR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1] </a:t>
            </a:r>
            <a:r>
              <a:rPr lang="ko-KR" altLang="en-US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연세대 분석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effectLst/>
                <a:uLnTx/>
                <a:uFillTx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시나리오</a:t>
            </a:r>
          </a:p>
        </p:txBody>
      </p:sp>
      <p:pic>
        <p:nvPicPr>
          <p:cNvPr id="118" name="object 6">
            <a:extLst>
              <a:ext uri="{FF2B5EF4-FFF2-40B4-BE49-F238E27FC236}">
                <a16:creationId xmlns:a16="http://schemas.microsoft.com/office/drawing/2014/main" id="{D7794EAF-E699-C6CC-AD36-B7EEC5B16E8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43485" y="361188"/>
            <a:ext cx="7920000" cy="65532"/>
          </a:xfrm>
          <a:prstGeom prst="rect">
            <a:avLst/>
          </a:prstGeom>
        </p:spPr>
      </p:pic>
      <p:pic>
        <p:nvPicPr>
          <p:cNvPr id="1026" name="Picture 2" descr="선택됨">
            <a:extLst>
              <a:ext uri="{FF2B5EF4-FFF2-40B4-BE49-F238E27FC236}">
                <a16:creationId xmlns:a16="http://schemas.microsoft.com/office/drawing/2014/main" id="{83ECA598-CEEE-EB6F-3F03-2A21D72F4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5850" y="6342063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255D7893-043A-D0ED-EEBE-66D1E47625E8}"/>
              </a:ext>
            </a:extLst>
          </p:cNvPr>
          <p:cNvSpPr txBox="1">
            <a:spLocks/>
          </p:cNvSpPr>
          <p:nvPr/>
        </p:nvSpPr>
        <p:spPr>
          <a:xfrm>
            <a:off x="11586654" y="6513500"/>
            <a:ext cx="381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474013-A174-42CD-8073-17DE26C9F6E3}" type="slidenum">
              <a:rPr lang="en-US" smtClean="0"/>
              <a:pPr/>
              <a:t>2</a:t>
            </a:fld>
            <a:endParaRPr lang="ko-KR" altLang="en-US" dirty="0"/>
          </a:p>
        </p:txBody>
      </p:sp>
      <p:sp>
        <p:nvSpPr>
          <p:cNvPr id="2" name="object 109">
            <a:extLst>
              <a:ext uri="{FF2B5EF4-FFF2-40B4-BE49-F238E27FC236}">
                <a16:creationId xmlns:a16="http://schemas.microsoft.com/office/drawing/2014/main" id="{7B3949D2-0E03-45EF-F256-50BAFBADCAD3}"/>
              </a:ext>
            </a:extLst>
          </p:cNvPr>
          <p:cNvSpPr/>
          <p:nvPr/>
        </p:nvSpPr>
        <p:spPr>
          <a:xfrm>
            <a:off x="455472" y="687120"/>
            <a:ext cx="153670" cy="153670"/>
          </a:xfrm>
          <a:custGeom>
            <a:avLst/>
            <a:gdLst/>
            <a:ahLst/>
            <a:cxnLst/>
            <a:rect l="l" t="t" r="r" b="b"/>
            <a:pathLst>
              <a:path w="153670" h="153669">
                <a:moveTo>
                  <a:pt x="57086" y="113157"/>
                </a:moveTo>
                <a:lnTo>
                  <a:pt x="55854" y="106807"/>
                </a:lnTo>
                <a:lnTo>
                  <a:pt x="52120" y="101219"/>
                </a:lnTo>
                <a:lnTo>
                  <a:pt x="46520" y="97523"/>
                </a:lnTo>
                <a:lnTo>
                  <a:pt x="40144" y="96278"/>
                </a:lnTo>
                <a:lnTo>
                  <a:pt x="33769" y="97523"/>
                </a:lnTo>
                <a:lnTo>
                  <a:pt x="28168" y="101219"/>
                </a:lnTo>
                <a:lnTo>
                  <a:pt x="4965" y="124358"/>
                </a:lnTo>
                <a:lnTo>
                  <a:pt x="1244" y="129959"/>
                </a:lnTo>
                <a:lnTo>
                  <a:pt x="0" y="136309"/>
                </a:lnTo>
                <a:lnTo>
                  <a:pt x="1244" y="142671"/>
                </a:lnTo>
                <a:lnTo>
                  <a:pt x="4965" y="148247"/>
                </a:lnTo>
                <a:lnTo>
                  <a:pt x="8255" y="151549"/>
                </a:lnTo>
                <a:lnTo>
                  <a:pt x="12611" y="153200"/>
                </a:lnTo>
                <a:lnTo>
                  <a:pt x="16941" y="153200"/>
                </a:lnTo>
                <a:lnTo>
                  <a:pt x="21259" y="153200"/>
                </a:lnTo>
                <a:lnTo>
                  <a:pt x="25615" y="151549"/>
                </a:lnTo>
                <a:lnTo>
                  <a:pt x="52120" y="125107"/>
                </a:lnTo>
                <a:lnTo>
                  <a:pt x="55854" y="119519"/>
                </a:lnTo>
                <a:lnTo>
                  <a:pt x="57086" y="113157"/>
                </a:lnTo>
                <a:close/>
              </a:path>
              <a:path w="153670" h="153669">
                <a:moveTo>
                  <a:pt x="57086" y="40030"/>
                </a:moveTo>
                <a:lnTo>
                  <a:pt x="28917" y="4940"/>
                </a:lnTo>
                <a:lnTo>
                  <a:pt x="16941" y="0"/>
                </a:lnTo>
                <a:lnTo>
                  <a:pt x="10566" y="1244"/>
                </a:lnTo>
                <a:lnTo>
                  <a:pt x="4965" y="4940"/>
                </a:lnTo>
                <a:lnTo>
                  <a:pt x="1244" y="10541"/>
                </a:lnTo>
                <a:lnTo>
                  <a:pt x="0" y="16891"/>
                </a:lnTo>
                <a:lnTo>
                  <a:pt x="1244" y="23253"/>
                </a:lnTo>
                <a:lnTo>
                  <a:pt x="4965" y="28829"/>
                </a:lnTo>
                <a:lnTo>
                  <a:pt x="31457" y="55270"/>
                </a:lnTo>
                <a:lnTo>
                  <a:pt x="35814" y="56921"/>
                </a:lnTo>
                <a:lnTo>
                  <a:pt x="40132" y="56921"/>
                </a:lnTo>
                <a:lnTo>
                  <a:pt x="44488" y="56921"/>
                </a:lnTo>
                <a:lnTo>
                  <a:pt x="48806" y="55270"/>
                </a:lnTo>
                <a:lnTo>
                  <a:pt x="52120" y="51981"/>
                </a:lnTo>
                <a:lnTo>
                  <a:pt x="55854" y="46393"/>
                </a:lnTo>
                <a:lnTo>
                  <a:pt x="57086" y="40030"/>
                </a:lnTo>
                <a:close/>
              </a:path>
              <a:path w="153670" h="153669">
                <a:moveTo>
                  <a:pt x="153619" y="136321"/>
                </a:moveTo>
                <a:lnTo>
                  <a:pt x="125450" y="101219"/>
                </a:lnTo>
                <a:lnTo>
                  <a:pt x="113474" y="96278"/>
                </a:lnTo>
                <a:lnTo>
                  <a:pt x="107099" y="97523"/>
                </a:lnTo>
                <a:lnTo>
                  <a:pt x="101498" y="101219"/>
                </a:lnTo>
                <a:lnTo>
                  <a:pt x="97777" y="106819"/>
                </a:lnTo>
                <a:lnTo>
                  <a:pt x="96532" y="113169"/>
                </a:lnTo>
                <a:lnTo>
                  <a:pt x="97777" y="119532"/>
                </a:lnTo>
                <a:lnTo>
                  <a:pt x="101498" y="125107"/>
                </a:lnTo>
                <a:lnTo>
                  <a:pt x="128016" y="151549"/>
                </a:lnTo>
                <a:lnTo>
                  <a:pt x="132359" y="153200"/>
                </a:lnTo>
                <a:lnTo>
                  <a:pt x="136690" y="153200"/>
                </a:lnTo>
                <a:lnTo>
                  <a:pt x="141020" y="153200"/>
                </a:lnTo>
                <a:lnTo>
                  <a:pt x="145364" y="151549"/>
                </a:lnTo>
                <a:lnTo>
                  <a:pt x="148653" y="148272"/>
                </a:lnTo>
                <a:lnTo>
                  <a:pt x="152374" y="142671"/>
                </a:lnTo>
                <a:lnTo>
                  <a:pt x="153619" y="136321"/>
                </a:lnTo>
                <a:close/>
              </a:path>
              <a:path w="153670" h="153669">
                <a:moveTo>
                  <a:pt x="153631" y="16903"/>
                </a:moveTo>
                <a:lnTo>
                  <a:pt x="152400" y="10541"/>
                </a:lnTo>
                <a:lnTo>
                  <a:pt x="148678" y="4965"/>
                </a:lnTo>
                <a:lnTo>
                  <a:pt x="143065" y="1257"/>
                </a:lnTo>
                <a:lnTo>
                  <a:pt x="136690" y="25"/>
                </a:lnTo>
                <a:lnTo>
                  <a:pt x="130314" y="1257"/>
                </a:lnTo>
                <a:lnTo>
                  <a:pt x="124714" y="4965"/>
                </a:lnTo>
                <a:lnTo>
                  <a:pt x="101523" y="28079"/>
                </a:lnTo>
                <a:lnTo>
                  <a:pt x="97790" y="33667"/>
                </a:lnTo>
                <a:lnTo>
                  <a:pt x="96545" y="40030"/>
                </a:lnTo>
                <a:lnTo>
                  <a:pt x="97790" y="46380"/>
                </a:lnTo>
                <a:lnTo>
                  <a:pt x="101523" y="51968"/>
                </a:lnTo>
                <a:lnTo>
                  <a:pt x="104813" y="55270"/>
                </a:lnTo>
                <a:lnTo>
                  <a:pt x="109156" y="56921"/>
                </a:lnTo>
                <a:lnTo>
                  <a:pt x="113487" y="56921"/>
                </a:lnTo>
                <a:lnTo>
                  <a:pt x="117817" y="56921"/>
                </a:lnTo>
                <a:lnTo>
                  <a:pt x="122135" y="55270"/>
                </a:lnTo>
                <a:lnTo>
                  <a:pt x="148678" y="28854"/>
                </a:lnTo>
                <a:lnTo>
                  <a:pt x="152400" y="23253"/>
                </a:lnTo>
                <a:lnTo>
                  <a:pt x="153631" y="16903"/>
                </a:lnTo>
                <a:close/>
              </a:path>
            </a:pathLst>
          </a:custGeom>
          <a:solidFill>
            <a:srgbClr val="468BA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A61AA-3B89-A15E-1486-7F05BF53BA18}"/>
              </a:ext>
            </a:extLst>
          </p:cNvPr>
          <p:cNvSpPr txBox="1"/>
          <p:nvPr/>
        </p:nvSpPr>
        <p:spPr>
          <a:xfrm>
            <a:off x="609142" y="594359"/>
            <a:ext cx="455975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UNICON-G-Power : 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경제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-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전력 연계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468CAF"/>
              </a:solidFill>
              <a:effectLst/>
              <a:uLnTx/>
              <a:uFillTx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사각형: 둥근 모서리 15">
            <a:extLst>
              <a:ext uri="{FF2B5EF4-FFF2-40B4-BE49-F238E27FC236}">
                <a16:creationId xmlns:a16="http://schemas.microsoft.com/office/drawing/2014/main" id="{FADEF534-2A36-7324-10C3-FDC4F03C79C4}"/>
              </a:ext>
            </a:extLst>
          </p:cNvPr>
          <p:cNvSpPr/>
          <p:nvPr/>
        </p:nvSpPr>
        <p:spPr>
          <a:xfrm>
            <a:off x="642429" y="949774"/>
            <a:ext cx="10925684" cy="309850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UNICON G (</a:t>
            </a:r>
            <a:r>
              <a:rPr lang="ko-KR" altLang="en-US" sz="13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경제</a:t>
            </a:r>
            <a:r>
              <a:rPr lang="en-US" altLang="ko-KR" sz="13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– UNICON POWER (</a:t>
            </a:r>
            <a:r>
              <a:rPr lang="ko-KR" altLang="en-US" sz="13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전력</a:t>
            </a:r>
            <a:r>
              <a:rPr lang="en-US" altLang="ko-KR" sz="13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lang="ko-KR" altLang="en-US" sz="13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모형 개괄 </a:t>
            </a:r>
            <a:endParaRPr lang="en-US" altLang="ko-KR" sz="13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6" name="그림 4">
            <a:extLst>
              <a:ext uri="{FF2B5EF4-FFF2-40B4-BE49-F238E27FC236}">
                <a16:creationId xmlns:a16="http://schemas.microsoft.com/office/drawing/2014/main" id="{72C77518-EB97-79D4-FDD9-F4B76A3DEB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705" y="1444774"/>
            <a:ext cx="173289" cy="127864"/>
          </a:xfrm>
          <a:prstGeom prst="rect">
            <a:avLst/>
          </a:prstGeom>
        </p:spPr>
      </p:pic>
      <p:pic>
        <p:nvPicPr>
          <p:cNvPr id="8" name="그림 4">
            <a:extLst>
              <a:ext uri="{FF2B5EF4-FFF2-40B4-BE49-F238E27FC236}">
                <a16:creationId xmlns:a16="http://schemas.microsoft.com/office/drawing/2014/main" id="{51C45648-8511-4AC1-E95B-076B7B9E3F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244" y="3804873"/>
            <a:ext cx="173289" cy="127864"/>
          </a:xfrm>
          <a:prstGeom prst="rect">
            <a:avLst/>
          </a:prstGeom>
        </p:spPr>
      </p:pic>
      <p:sp>
        <p:nvSpPr>
          <p:cNvPr id="10" name="사각형: 둥근 모서리 15">
            <a:extLst>
              <a:ext uri="{FF2B5EF4-FFF2-40B4-BE49-F238E27FC236}">
                <a16:creationId xmlns:a16="http://schemas.microsoft.com/office/drawing/2014/main" id="{80CBA6C5-FE26-004F-421E-DAB739318F99}"/>
              </a:ext>
            </a:extLst>
          </p:cNvPr>
          <p:cNvSpPr/>
          <p:nvPr/>
        </p:nvSpPr>
        <p:spPr>
          <a:xfrm>
            <a:off x="642430" y="1338791"/>
            <a:ext cx="5290858" cy="1994298"/>
          </a:xfrm>
          <a:prstGeom prst="roundRect">
            <a:avLst>
              <a:gd name="adj" fmla="val 28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UNICON-G : </a:t>
            </a:r>
            <a:r>
              <a:rPr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일반균형모델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국가별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연간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(annual) </a:t>
            </a:r>
          </a:p>
          <a:p>
            <a:pPr marL="539750" lvl="1" indent="-177800">
              <a:lnSpc>
                <a:spcPct val="120000"/>
              </a:lnSpc>
              <a:buFont typeface="맑은 고딕" panose="020B0503020000020004" pitchFamily="50" charset="-127"/>
              <a:buChar char="-"/>
            </a:pP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KOR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Korea,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CHN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China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J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PN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Japan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USA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USA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IND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India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OECD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OECD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ASIA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Rest of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ASIA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LAM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</a:t>
            </a:r>
            <a:r>
              <a:rPr lang="en-US" altLang="ko-KR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atin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America,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REF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Reforming economies,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MAF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Middle East and Africa,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MAF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EU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European Union</a:t>
            </a:r>
          </a:p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GTAP 11 (2017)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국가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산업별 생산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소비 데이터에 기반</a:t>
            </a:r>
            <a:endParaRPr lang="en-US" altLang="ko-KR" sz="13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429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14 sectors</a:t>
            </a:r>
            <a:r>
              <a:rPr lang="ko-KR" altLang="en-US" sz="10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05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SSP 2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상의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GDP,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인구 전망 활용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맑은 고딕" panose="020B0503020000020004" pitchFamily="50" charset="-127"/>
              <a:buChar char="-"/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사각형: 둥근 모서리 15">
            <a:extLst>
              <a:ext uri="{FF2B5EF4-FFF2-40B4-BE49-F238E27FC236}">
                <a16:creationId xmlns:a16="http://schemas.microsoft.com/office/drawing/2014/main" id="{02B8DC31-D47E-288B-4FFB-F343AACD7CE7}"/>
              </a:ext>
            </a:extLst>
          </p:cNvPr>
          <p:cNvSpPr/>
          <p:nvPr/>
        </p:nvSpPr>
        <p:spPr>
          <a:xfrm>
            <a:off x="638723" y="3429000"/>
            <a:ext cx="10925684" cy="309850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연계 시나리오 </a:t>
            </a:r>
            <a:endParaRPr lang="en-US" altLang="ko-KR" sz="13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2" name="사각형: 둥근 모서리 15">
            <a:extLst>
              <a:ext uri="{FF2B5EF4-FFF2-40B4-BE49-F238E27FC236}">
                <a16:creationId xmlns:a16="http://schemas.microsoft.com/office/drawing/2014/main" id="{016A7F27-0699-C999-5FFC-B7CDE1A92F61}"/>
              </a:ext>
            </a:extLst>
          </p:cNvPr>
          <p:cNvSpPr/>
          <p:nvPr/>
        </p:nvSpPr>
        <p:spPr>
          <a:xfrm>
            <a:off x="647220" y="3832411"/>
            <a:ext cx="10903437" cy="2509652"/>
          </a:xfrm>
          <a:prstGeom prst="roundRect">
            <a:avLst>
              <a:gd name="adj" fmla="val 28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BAU0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  <a:r>
              <a:rPr lang="en-US" altLang="ko-KR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CGE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및 전력모형의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standalone simulation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BAU  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두 모델 연계하여 전력 수요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가격 정보를 주으며 각 모델의 해를 업데이트 하도록 조정  </a:t>
            </a:r>
            <a:endParaRPr lang="en-US" altLang="ko-KR" sz="1300" b="1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CP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   : BAU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+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탄소가격에 대한 가정 추가</a:t>
            </a:r>
            <a:endParaRPr lang="en-US" altLang="ko-KR" sz="13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82663" lvl="1" indent="-177800">
              <a:lnSpc>
                <a:spcPct val="120000"/>
              </a:lnSpc>
              <a:buFont typeface="맑은 고딕" panose="020B0503020000020004" pitchFamily="50" charset="-127"/>
              <a:buChar char="-"/>
            </a:pP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년부터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2050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년까지 탄소가격 선형 증가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초기값은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년에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 USD/tCO</a:t>
            </a:r>
            <a:r>
              <a:rPr lang="en-US" altLang="ko-KR" sz="12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2050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년까지 중국은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300USD/tCO</a:t>
            </a:r>
            <a:r>
              <a:rPr lang="en-US" altLang="ko-KR" sz="12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수준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한국과 일본은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350USD/tCO</a:t>
            </a:r>
            <a:r>
              <a:rPr lang="en-US" altLang="ko-KR" sz="12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수준으로 매년 일정한 비율로 상승함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Power trade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BAU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및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CP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시나리오에 국가간 전력거래 옵션을 추가하여 전력시스템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거시경제 영향 분석</a:t>
            </a:r>
            <a:endParaRPr lang="en-US" altLang="ko-KR" sz="13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 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국가간 전력수출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수입량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(GWh)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은 시간별 전력수요의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20%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내 규모로 허용</a:t>
            </a:r>
            <a:endParaRPr lang="en-US" altLang="ko-KR" sz="13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3" name="그림 4">
            <a:extLst>
              <a:ext uri="{FF2B5EF4-FFF2-40B4-BE49-F238E27FC236}">
                <a16:creationId xmlns:a16="http://schemas.microsoft.com/office/drawing/2014/main" id="{3E27A0D6-9E62-F82E-4D40-5066D14701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703" y="1035849"/>
            <a:ext cx="173289" cy="127864"/>
          </a:xfrm>
          <a:prstGeom prst="rect">
            <a:avLst/>
          </a:prstGeom>
        </p:spPr>
      </p:pic>
      <p:pic>
        <p:nvPicPr>
          <p:cNvPr id="14" name="그림 4">
            <a:extLst>
              <a:ext uri="{FF2B5EF4-FFF2-40B4-BE49-F238E27FC236}">
                <a16:creationId xmlns:a16="http://schemas.microsoft.com/office/drawing/2014/main" id="{18D24068-2D92-437D-576B-2E368A1588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243" y="3522561"/>
            <a:ext cx="173289" cy="127864"/>
          </a:xfrm>
          <a:prstGeom prst="rect">
            <a:avLst/>
          </a:prstGeom>
        </p:spPr>
      </p:pic>
      <p:sp>
        <p:nvSpPr>
          <p:cNvPr id="17" name="사각형: 둥근 모서리 15">
            <a:extLst>
              <a:ext uri="{FF2B5EF4-FFF2-40B4-BE49-F238E27FC236}">
                <a16:creationId xmlns:a16="http://schemas.microsoft.com/office/drawing/2014/main" id="{C40ACE05-D28C-EAF7-027C-82FB01C73861}"/>
              </a:ext>
            </a:extLst>
          </p:cNvPr>
          <p:cNvSpPr/>
          <p:nvPr/>
        </p:nvSpPr>
        <p:spPr>
          <a:xfrm>
            <a:off x="6258714" y="1338791"/>
            <a:ext cx="5327940" cy="1994298"/>
          </a:xfrm>
          <a:prstGeom prst="roundRect">
            <a:avLst>
              <a:gd name="adj" fmla="val 28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UNICON-Power : </a:t>
            </a:r>
            <a:r>
              <a:rPr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최적화 </a:t>
            </a:r>
            <a:r>
              <a:rPr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비용최소화</a:t>
            </a:r>
            <a:r>
              <a:rPr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모델 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국가별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시간별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(hourly)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3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539750" lvl="1" indent="-177800">
              <a:lnSpc>
                <a:spcPct val="120000"/>
              </a:lnSpc>
              <a:buFont typeface="맑은 고딕" panose="020B0503020000020004" pitchFamily="50" charset="-127"/>
              <a:buChar char="-"/>
            </a:pP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KOR, CHN, JPN  -&gt;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기타 아시아 국가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EU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국가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미국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등 추가 확대 예정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개별 기술 옵션의 운용방식을 상세 반영하는 제약식을 통해 시간별 전력수요 만족을 위한 최소비용의 기술 믹스를 구함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국가별 미래 전력 수요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연료 및 기술 가격 변화 전망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신기술 도입 등을 반영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804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CF0D0-7328-5FE1-E624-8A8F6E90B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object 105">
            <a:extLst>
              <a:ext uri="{FF2B5EF4-FFF2-40B4-BE49-F238E27FC236}">
                <a16:creationId xmlns:a16="http://schemas.microsoft.com/office/drawing/2014/main" id="{205AE43D-B734-1C05-5121-CDC46E37DE43}"/>
              </a:ext>
            </a:extLst>
          </p:cNvPr>
          <p:cNvGrpSpPr/>
          <p:nvPr/>
        </p:nvGrpSpPr>
        <p:grpSpPr>
          <a:xfrm>
            <a:off x="300227" y="272795"/>
            <a:ext cx="66040" cy="242570"/>
            <a:chOff x="300227" y="272795"/>
            <a:chExt cx="66040" cy="242570"/>
          </a:xfrm>
        </p:grpSpPr>
        <p:pic>
          <p:nvPicPr>
            <p:cNvPr id="106" name="object 106">
              <a:extLst>
                <a:ext uri="{FF2B5EF4-FFF2-40B4-BE49-F238E27FC236}">
                  <a16:creationId xmlns:a16="http://schemas.microsoft.com/office/drawing/2014/main" id="{1D63FB61-0760-8C78-32CE-DD7B5CC64A8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227" y="272795"/>
              <a:ext cx="65532" cy="64007"/>
            </a:xfrm>
            <a:prstGeom prst="rect">
              <a:avLst/>
            </a:prstGeom>
          </p:spPr>
        </p:pic>
        <p:pic>
          <p:nvPicPr>
            <p:cNvPr id="107" name="object 107">
              <a:extLst>
                <a:ext uri="{FF2B5EF4-FFF2-40B4-BE49-F238E27FC236}">
                  <a16:creationId xmlns:a16="http://schemas.microsoft.com/office/drawing/2014/main" id="{AFEAD3F9-DDC4-F000-B1AE-5707BF52BD1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227" y="361187"/>
              <a:ext cx="65532" cy="65532"/>
            </a:xfrm>
            <a:prstGeom prst="rect">
              <a:avLst/>
            </a:prstGeom>
          </p:spPr>
        </p:pic>
        <p:pic>
          <p:nvPicPr>
            <p:cNvPr id="108" name="object 108">
              <a:extLst>
                <a:ext uri="{FF2B5EF4-FFF2-40B4-BE49-F238E27FC236}">
                  <a16:creationId xmlns:a16="http://schemas.microsoft.com/office/drawing/2014/main" id="{3BB55837-21C4-FEF1-C44D-C3BC9389A03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227" y="451103"/>
              <a:ext cx="65532" cy="64008"/>
            </a:xfrm>
            <a:prstGeom prst="rect">
              <a:avLst/>
            </a:prstGeom>
          </p:spPr>
        </p:pic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4D69D93A-254E-8CEA-8278-D194E197505E}"/>
              </a:ext>
            </a:extLst>
          </p:cNvPr>
          <p:cNvSpPr txBox="1"/>
          <p:nvPr/>
        </p:nvSpPr>
        <p:spPr>
          <a:xfrm>
            <a:off x="422275" y="208166"/>
            <a:ext cx="42132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</a:t>
            </a:r>
            <a:r>
              <a:rPr lang="ko-KR" altLang="en-US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총괄</a:t>
            </a:r>
            <a:r>
              <a:rPr lang="en-US" altLang="ko-KR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1] </a:t>
            </a:r>
            <a:r>
              <a:rPr lang="ko-KR" altLang="en-US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연세대 분석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effectLst/>
                <a:uLnTx/>
                <a:uFillTx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시나리오</a:t>
            </a:r>
          </a:p>
        </p:txBody>
      </p:sp>
      <p:pic>
        <p:nvPicPr>
          <p:cNvPr id="118" name="object 6">
            <a:extLst>
              <a:ext uri="{FF2B5EF4-FFF2-40B4-BE49-F238E27FC236}">
                <a16:creationId xmlns:a16="http://schemas.microsoft.com/office/drawing/2014/main" id="{97188324-5481-5C38-0794-D2C5BB8CC77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43485" y="361188"/>
            <a:ext cx="7920000" cy="65532"/>
          </a:xfrm>
          <a:prstGeom prst="rect">
            <a:avLst/>
          </a:prstGeom>
        </p:spPr>
      </p:pic>
      <p:pic>
        <p:nvPicPr>
          <p:cNvPr id="1026" name="Picture 2" descr="선택됨">
            <a:extLst>
              <a:ext uri="{FF2B5EF4-FFF2-40B4-BE49-F238E27FC236}">
                <a16:creationId xmlns:a16="http://schemas.microsoft.com/office/drawing/2014/main" id="{D9C632EC-641E-26B7-B4AB-CB0AF48F4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5850" y="6342063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0F1EB187-073B-9867-DBE3-68EA8A0F277C}"/>
              </a:ext>
            </a:extLst>
          </p:cNvPr>
          <p:cNvSpPr txBox="1">
            <a:spLocks/>
          </p:cNvSpPr>
          <p:nvPr/>
        </p:nvSpPr>
        <p:spPr>
          <a:xfrm>
            <a:off x="11586654" y="6513500"/>
            <a:ext cx="381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474013-A174-42CD-8073-17DE26C9F6E3}" type="slidenum">
              <a:rPr lang="en-US" smtClean="0"/>
              <a:pPr/>
              <a:t>3</a:t>
            </a:fld>
            <a:endParaRPr lang="ko-KR" altLang="en-US" dirty="0"/>
          </a:p>
        </p:txBody>
      </p:sp>
      <p:sp>
        <p:nvSpPr>
          <p:cNvPr id="2" name="object 109">
            <a:extLst>
              <a:ext uri="{FF2B5EF4-FFF2-40B4-BE49-F238E27FC236}">
                <a16:creationId xmlns:a16="http://schemas.microsoft.com/office/drawing/2014/main" id="{F50748F2-F523-73DB-C918-D378CD2BA7E6}"/>
              </a:ext>
            </a:extLst>
          </p:cNvPr>
          <p:cNvSpPr/>
          <p:nvPr/>
        </p:nvSpPr>
        <p:spPr>
          <a:xfrm>
            <a:off x="455472" y="687120"/>
            <a:ext cx="153670" cy="153670"/>
          </a:xfrm>
          <a:custGeom>
            <a:avLst/>
            <a:gdLst/>
            <a:ahLst/>
            <a:cxnLst/>
            <a:rect l="l" t="t" r="r" b="b"/>
            <a:pathLst>
              <a:path w="153670" h="153669">
                <a:moveTo>
                  <a:pt x="57086" y="113157"/>
                </a:moveTo>
                <a:lnTo>
                  <a:pt x="55854" y="106807"/>
                </a:lnTo>
                <a:lnTo>
                  <a:pt x="52120" y="101219"/>
                </a:lnTo>
                <a:lnTo>
                  <a:pt x="46520" y="97523"/>
                </a:lnTo>
                <a:lnTo>
                  <a:pt x="40144" y="96278"/>
                </a:lnTo>
                <a:lnTo>
                  <a:pt x="33769" y="97523"/>
                </a:lnTo>
                <a:lnTo>
                  <a:pt x="28168" y="101219"/>
                </a:lnTo>
                <a:lnTo>
                  <a:pt x="4965" y="124358"/>
                </a:lnTo>
                <a:lnTo>
                  <a:pt x="1244" y="129959"/>
                </a:lnTo>
                <a:lnTo>
                  <a:pt x="0" y="136309"/>
                </a:lnTo>
                <a:lnTo>
                  <a:pt x="1244" y="142671"/>
                </a:lnTo>
                <a:lnTo>
                  <a:pt x="4965" y="148247"/>
                </a:lnTo>
                <a:lnTo>
                  <a:pt x="8255" y="151549"/>
                </a:lnTo>
                <a:lnTo>
                  <a:pt x="12611" y="153200"/>
                </a:lnTo>
                <a:lnTo>
                  <a:pt x="16941" y="153200"/>
                </a:lnTo>
                <a:lnTo>
                  <a:pt x="21259" y="153200"/>
                </a:lnTo>
                <a:lnTo>
                  <a:pt x="25615" y="151549"/>
                </a:lnTo>
                <a:lnTo>
                  <a:pt x="52120" y="125107"/>
                </a:lnTo>
                <a:lnTo>
                  <a:pt x="55854" y="119519"/>
                </a:lnTo>
                <a:lnTo>
                  <a:pt x="57086" y="113157"/>
                </a:lnTo>
                <a:close/>
              </a:path>
              <a:path w="153670" h="153669">
                <a:moveTo>
                  <a:pt x="57086" y="40030"/>
                </a:moveTo>
                <a:lnTo>
                  <a:pt x="28917" y="4940"/>
                </a:lnTo>
                <a:lnTo>
                  <a:pt x="16941" y="0"/>
                </a:lnTo>
                <a:lnTo>
                  <a:pt x="10566" y="1244"/>
                </a:lnTo>
                <a:lnTo>
                  <a:pt x="4965" y="4940"/>
                </a:lnTo>
                <a:lnTo>
                  <a:pt x="1244" y="10541"/>
                </a:lnTo>
                <a:lnTo>
                  <a:pt x="0" y="16891"/>
                </a:lnTo>
                <a:lnTo>
                  <a:pt x="1244" y="23253"/>
                </a:lnTo>
                <a:lnTo>
                  <a:pt x="4965" y="28829"/>
                </a:lnTo>
                <a:lnTo>
                  <a:pt x="31457" y="55270"/>
                </a:lnTo>
                <a:lnTo>
                  <a:pt x="35814" y="56921"/>
                </a:lnTo>
                <a:lnTo>
                  <a:pt x="40132" y="56921"/>
                </a:lnTo>
                <a:lnTo>
                  <a:pt x="44488" y="56921"/>
                </a:lnTo>
                <a:lnTo>
                  <a:pt x="48806" y="55270"/>
                </a:lnTo>
                <a:lnTo>
                  <a:pt x="52120" y="51981"/>
                </a:lnTo>
                <a:lnTo>
                  <a:pt x="55854" y="46393"/>
                </a:lnTo>
                <a:lnTo>
                  <a:pt x="57086" y="40030"/>
                </a:lnTo>
                <a:close/>
              </a:path>
              <a:path w="153670" h="153669">
                <a:moveTo>
                  <a:pt x="153619" y="136321"/>
                </a:moveTo>
                <a:lnTo>
                  <a:pt x="125450" y="101219"/>
                </a:lnTo>
                <a:lnTo>
                  <a:pt x="113474" y="96278"/>
                </a:lnTo>
                <a:lnTo>
                  <a:pt x="107099" y="97523"/>
                </a:lnTo>
                <a:lnTo>
                  <a:pt x="101498" y="101219"/>
                </a:lnTo>
                <a:lnTo>
                  <a:pt x="97777" y="106819"/>
                </a:lnTo>
                <a:lnTo>
                  <a:pt x="96532" y="113169"/>
                </a:lnTo>
                <a:lnTo>
                  <a:pt x="97777" y="119532"/>
                </a:lnTo>
                <a:lnTo>
                  <a:pt x="101498" y="125107"/>
                </a:lnTo>
                <a:lnTo>
                  <a:pt x="128016" y="151549"/>
                </a:lnTo>
                <a:lnTo>
                  <a:pt x="132359" y="153200"/>
                </a:lnTo>
                <a:lnTo>
                  <a:pt x="136690" y="153200"/>
                </a:lnTo>
                <a:lnTo>
                  <a:pt x="141020" y="153200"/>
                </a:lnTo>
                <a:lnTo>
                  <a:pt x="145364" y="151549"/>
                </a:lnTo>
                <a:lnTo>
                  <a:pt x="148653" y="148272"/>
                </a:lnTo>
                <a:lnTo>
                  <a:pt x="152374" y="142671"/>
                </a:lnTo>
                <a:lnTo>
                  <a:pt x="153619" y="136321"/>
                </a:lnTo>
                <a:close/>
              </a:path>
              <a:path w="153670" h="153669">
                <a:moveTo>
                  <a:pt x="153631" y="16903"/>
                </a:moveTo>
                <a:lnTo>
                  <a:pt x="152400" y="10541"/>
                </a:lnTo>
                <a:lnTo>
                  <a:pt x="148678" y="4965"/>
                </a:lnTo>
                <a:lnTo>
                  <a:pt x="143065" y="1257"/>
                </a:lnTo>
                <a:lnTo>
                  <a:pt x="136690" y="25"/>
                </a:lnTo>
                <a:lnTo>
                  <a:pt x="130314" y="1257"/>
                </a:lnTo>
                <a:lnTo>
                  <a:pt x="124714" y="4965"/>
                </a:lnTo>
                <a:lnTo>
                  <a:pt x="101523" y="28079"/>
                </a:lnTo>
                <a:lnTo>
                  <a:pt x="97790" y="33667"/>
                </a:lnTo>
                <a:lnTo>
                  <a:pt x="96545" y="40030"/>
                </a:lnTo>
                <a:lnTo>
                  <a:pt x="97790" y="46380"/>
                </a:lnTo>
                <a:lnTo>
                  <a:pt x="101523" y="51968"/>
                </a:lnTo>
                <a:lnTo>
                  <a:pt x="104813" y="55270"/>
                </a:lnTo>
                <a:lnTo>
                  <a:pt x="109156" y="56921"/>
                </a:lnTo>
                <a:lnTo>
                  <a:pt x="113487" y="56921"/>
                </a:lnTo>
                <a:lnTo>
                  <a:pt x="117817" y="56921"/>
                </a:lnTo>
                <a:lnTo>
                  <a:pt x="122135" y="55270"/>
                </a:lnTo>
                <a:lnTo>
                  <a:pt x="148678" y="28854"/>
                </a:lnTo>
                <a:lnTo>
                  <a:pt x="152400" y="23253"/>
                </a:lnTo>
                <a:lnTo>
                  <a:pt x="153631" y="16903"/>
                </a:lnTo>
                <a:close/>
              </a:path>
            </a:pathLst>
          </a:custGeom>
          <a:solidFill>
            <a:srgbClr val="468BA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A4B16-C0B5-336D-DB2F-0184E006FACC}"/>
              </a:ext>
            </a:extLst>
          </p:cNvPr>
          <p:cNvSpPr txBox="1"/>
          <p:nvPr/>
        </p:nvSpPr>
        <p:spPr>
          <a:xfrm>
            <a:off x="609142" y="594359"/>
            <a:ext cx="455975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UNICON-G-Power : 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경제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-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전력 연계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468CAF"/>
              </a:solidFill>
              <a:effectLst/>
              <a:uLnTx/>
              <a:uFillTx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3" name="Picture 47">
            <a:extLst>
              <a:ext uri="{FF2B5EF4-FFF2-40B4-BE49-F238E27FC236}">
                <a16:creationId xmlns:a16="http://schemas.microsoft.com/office/drawing/2014/main" id="{CB5AE79A-9AA9-B310-EE4C-C451CE427E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3439" y="990006"/>
            <a:ext cx="4418516" cy="2764941"/>
          </a:xfrm>
          <a:prstGeom prst="rect">
            <a:avLst/>
          </a:prstGeom>
        </p:spPr>
      </p:pic>
      <p:pic>
        <p:nvPicPr>
          <p:cNvPr id="7" name="Picture 79">
            <a:extLst>
              <a:ext uri="{FF2B5EF4-FFF2-40B4-BE49-F238E27FC236}">
                <a16:creationId xmlns:a16="http://schemas.microsoft.com/office/drawing/2014/main" id="{16AF0BA6-E6D0-CB30-8BC1-AD5A4BBA9E1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7834"/>
          <a:stretch>
            <a:fillRect/>
          </a:stretch>
        </p:blipFill>
        <p:spPr>
          <a:xfrm>
            <a:off x="667948" y="3931121"/>
            <a:ext cx="5328807" cy="2764941"/>
          </a:xfrm>
          <a:prstGeom prst="rect">
            <a:avLst/>
          </a:prstGeom>
        </p:spPr>
      </p:pic>
      <p:pic>
        <p:nvPicPr>
          <p:cNvPr id="15" name="Picture 87">
            <a:extLst>
              <a:ext uri="{FF2B5EF4-FFF2-40B4-BE49-F238E27FC236}">
                <a16:creationId xmlns:a16="http://schemas.microsoft.com/office/drawing/2014/main" id="{F6EAC9A4-15C0-D09E-C65A-B3B193564D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8745" y="4087828"/>
            <a:ext cx="5487909" cy="2549442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8C12F4D-6481-F75A-F451-B0AF34959F6E}"/>
              </a:ext>
            </a:extLst>
          </p:cNvPr>
          <p:cNvSpPr/>
          <p:nvPr/>
        </p:nvSpPr>
        <p:spPr>
          <a:xfrm>
            <a:off x="623888" y="1366007"/>
            <a:ext cx="5416929" cy="1766862"/>
          </a:xfrm>
          <a:prstGeom prst="roundRect">
            <a:avLst>
              <a:gd name="adj" fmla="val 28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GDP (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명목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실질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가계소득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CO2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배출량 등</a:t>
            </a:r>
            <a:endParaRPr lang="en-US" altLang="ko-KR" sz="13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국가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산업별 생산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소비량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가격 정보 </a:t>
            </a:r>
            <a:endParaRPr lang="en-US" altLang="ko-KR" sz="13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539750" lvl="1" indent="-177800">
              <a:lnSpc>
                <a:spcPct val="12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전력부문 생산량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전력가격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연료가격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전력모델에서 외생으로 주어진 정보들이 모델간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linking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을 통해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iteration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을 거쳐 내생적으로 재결정됨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시간별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연간 전력믹스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설비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GW,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발전량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GWh)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을 통해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경로 분석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</a:p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기술도입에 따른 시간별 전력 거래량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(GWh)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분석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E62F8F-165D-A93F-6E4B-9C6FB0F7312F}"/>
              </a:ext>
            </a:extLst>
          </p:cNvPr>
          <p:cNvSpPr txBox="1"/>
          <p:nvPr/>
        </p:nvSpPr>
        <p:spPr>
          <a:xfrm>
            <a:off x="7161276" y="3716686"/>
            <a:ext cx="33628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기술별 발전량 </a:t>
            </a:r>
            <a:r>
              <a:rPr lang="en-US" altLang="ko-KR" sz="1000" b="1" dirty="0"/>
              <a:t>(GWh)</a:t>
            </a:r>
            <a:r>
              <a:rPr lang="ko-KR" altLang="en-US" sz="1000" b="1" dirty="0"/>
              <a:t>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8FC4E3-924E-A54E-9D9F-3EE6B6C32537}"/>
              </a:ext>
            </a:extLst>
          </p:cNvPr>
          <p:cNvSpPr txBox="1"/>
          <p:nvPr/>
        </p:nvSpPr>
        <p:spPr>
          <a:xfrm>
            <a:off x="1562147" y="6637270"/>
            <a:ext cx="2653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국가별 거시경제 영향 </a:t>
            </a:r>
            <a:r>
              <a:rPr lang="en-US" altLang="ko-KR" sz="1050" b="1" dirty="0"/>
              <a:t>(% of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BAU0)</a:t>
            </a:r>
            <a:endParaRPr lang="ko-KR" altLang="en-US" sz="105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1C0E71-98D1-3A70-4C78-EE01FD0D2C43}"/>
              </a:ext>
            </a:extLst>
          </p:cNvPr>
          <p:cNvSpPr txBox="1"/>
          <p:nvPr/>
        </p:nvSpPr>
        <p:spPr>
          <a:xfrm>
            <a:off x="8386484" y="6596390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CO2 </a:t>
            </a:r>
            <a:r>
              <a:rPr lang="ko-KR" altLang="en-US" sz="1100" b="1" dirty="0"/>
              <a:t>배출량</a:t>
            </a:r>
          </a:p>
        </p:txBody>
      </p:sp>
      <p:sp>
        <p:nvSpPr>
          <p:cNvPr id="20" name="사각형: 둥근 모서리 15">
            <a:extLst>
              <a:ext uri="{FF2B5EF4-FFF2-40B4-BE49-F238E27FC236}">
                <a16:creationId xmlns:a16="http://schemas.microsoft.com/office/drawing/2014/main" id="{B56F3C3B-524C-1B12-24BB-4EE2CEFD56DC}"/>
              </a:ext>
            </a:extLst>
          </p:cNvPr>
          <p:cNvSpPr/>
          <p:nvPr/>
        </p:nvSpPr>
        <p:spPr>
          <a:xfrm>
            <a:off x="623888" y="945627"/>
            <a:ext cx="10944226" cy="309850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</a:t>
            </a:r>
            <a:r>
              <a:rPr lang="ko-KR" altLang="en-US" sz="13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 결과 변수</a:t>
            </a:r>
            <a:endParaRPr lang="en-US" altLang="ko-KR" sz="13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21" name="그림 4">
            <a:extLst>
              <a:ext uri="{FF2B5EF4-FFF2-40B4-BE49-F238E27FC236}">
                <a16:creationId xmlns:a16="http://schemas.microsoft.com/office/drawing/2014/main" id="{3CDE7E7C-457D-90ED-85F1-26BD057C2D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162" y="1031702"/>
            <a:ext cx="173289" cy="12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81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2276F-2867-65BC-2D60-69141648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object 105">
            <a:extLst>
              <a:ext uri="{FF2B5EF4-FFF2-40B4-BE49-F238E27FC236}">
                <a16:creationId xmlns:a16="http://schemas.microsoft.com/office/drawing/2014/main" id="{4C308D0B-70B7-DB2F-91FF-2820647D0417}"/>
              </a:ext>
            </a:extLst>
          </p:cNvPr>
          <p:cNvGrpSpPr/>
          <p:nvPr/>
        </p:nvGrpSpPr>
        <p:grpSpPr>
          <a:xfrm>
            <a:off x="300227" y="272795"/>
            <a:ext cx="66040" cy="242570"/>
            <a:chOff x="300227" y="272795"/>
            <a:chExt cx="66040" cy="242570"/>
          </a:xfrm>
        </p:grpSpPr>
        <p:pic>
          <p:nvPicPr>
            <p:cNvPr id="106" name="object 106">
              <a:extLst>
                <a:ext uri="{FF2B5EF4-FFF2-40B4-BE49-F238E27FC236}">
                  <a16:creationId xmlns:a16="http://schemas.microsoft.com/office/drawing/2014/main" id="{7E1228C0-20BA-3C73-86C5-0CB7A1AC086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227" y="272795"/>
              <a:ext cx="65532" cy="64007"/>
            </a:xfrm>
            <a:prstGeom prst="rect">
              <a:avLst/>
            </a:prstGeom>
          </p:spPr>
        </p:pic>
        <p:pic>
          <p:nvPicPr>
            <p:cNvPr id="107" name="object 107">
              <a:extLst>
                <a:ext uri="{FF2B5EF4-FFF2-40B4-BE49-F238E27FC236}">
                  <a16:creationId xmlns:a16="http://schemas.microsoft.com/office/drawing/2014/main" id="{DE7403DA-BAE8-454C-DE74-58C46F33363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227" y="361187"/>
              <a:ext cx="65532" cy="65532"/>
            </a:xfrm>
            <a:prstGeom prst="rect">
              <a:avLst/>
            </a:prstGeom>
          </p:spPr>
        </p:pic>
        <p:pic>
          <p:nvPicPr>
            <p:cNvPr id="108" name="object 108">
              <a:extLst>
                <a:ext uri="{FF2B5EF4-FFF2-40B4-BE49-F238E27FC236}">
                  <a16:creationId xmlns:a16="http://schemas.microsoft.com/office/drawing/2014/main" id="{3DF14182-1993-B878-9960-5ABF54047D8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227" y="451103"/>
              <a:ext cx="65532" cy="64008"/>
            </a:xfrm>
            <a:prstGeom prst="rect">
              <a:avLst/>
            </a:prstGeom>
          </p:spPr>
        </p:pic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57A07060-7AE1-5A31-0DD4-0E70F36FB1E2}"/>
              </a:ext>
            </a:extLst>
          </p:cNvPr>
          <p:cNvSpPr txBox="1"/>
          <p:nvPr/>
        </p:nvSpPr>
        <p:spPr>
          <a:xfrm>
            <a:off x="422275" y="208166"/>
            <a:ext cx="42132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</a:t>
            </a:r>
            <a:r>
              <a:rPr lang="ko-KR" altLang="en-US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총괄</a:t>
            </a:r>
            <a:r>
              <a:rPr lang="en-US" altLang="ko-KR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1] </a:t>
            </a:r>
            <a:r>
              <a:rPr lang="ko-KR" altLang="en-US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연세대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effectLst/>
                <a:uLnTx/>
                <a:uFillTx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분석 시나리오</a:t>
            </a:r>
          </a:p>
        </p:txBody>
      </p:sp>
      <p:pic>
        <p:nvPicPr>
          <p:cNvPr id="118" name="object 6">
            <a:extLst>
              <a:ext uri="{FF2B5EF4-FFF2-40B4-BE49-F238E27FC236}">
                <a16:creationId xmlns:a16="http://schemas.microsoft.com/office/drawing/2014/main" id="{0C4BA1E3-4B24-FA19-4639-54E489C37DB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43485" y="361188"/>
            <a:ext cx="7920000" cy="65532"/>
          </a:xfrm>
          <a:prstGeom prst="rect">
            <a:avLst/>
          </a:prstGeom>
        </p:spPr>
      </p:pic>
      <p:pic>
        <p:nvPicPr>
          <p:cNvPr id="1026" name="Picture 2" descr="선택됨">
            <a:extLst>
              <a:ext uri="{FF2B5EF4-FFF2-40B4-BE49-F238E27FC236}">
                <a16:creationId xmlns:a16="http://schemas.microsoft.com/office/drawing/2014/main" id="{AFC93683-83A4-0FED-DCAA-0C61DBBFB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5850" y="6342063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사각형: 둥근 모서리 15">
            <a:extLst>
              <a:ext uri="{FF2B5EF4-FFF2-40B4-BE49-F238E27FC236}">
                <a16:creationId xmlns:a16="http://schemas.microsoft.com/office/drawing/2014/main" id="{D668002A-5C15-D348-C5E8-C89A4DAE9F6B}"/>
              </a:ext>
            </a:extLst>
          </p:cNvPr>
          <p:cNvSpPr/>
          <p:nvPr/>
        </p:nvSpPr>
        <p:spPr>
          <a:xfrm>
            <a:off x="623888" y="949774"/>
            <a:ext cx="10944226" cy="309850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분석 시나리오</a:t>
            </a:r>
            <a:endParaRPr lang="en-US" altLang="ko-KR" sz="13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7" name="그림 4">
            <a:extLst>
              <a:ext uri="{FF2B5EF4-FFF2-40B4-BE49-F238E27FC236}">
                <a16:creationId xmlns:a16="http://schemas.microsoft.com/office/drawing/2014/main" id="{D99D3E82-9D76-004F-FB00-A0C42D1B5A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164" y="1036620"/>
            <a:ext cx="173289" cy="127864"/>
          </a:xfrm>
          <a:prstGeom prst="rect">
            <a:avLst/>
          </a:prstGeom>
        </p:spPr>
      </p:pic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B441BD67-ED43-F133-9AA6-67B563996602}"/>
              </a:ext>
            </a:extLst>
          </p:cNvPr>
          <p:cNvSpPr txBox="1">
            <a:spLocks/>
          </p:cNvSpPr>
          <p:nvPr/>
        </p:nvSpPr>
        <p:spPr>
          <a:xfrm>
            <a:off x="11586654" y="6513500"/>
            <a:ext cx="381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474013-A174-42CD-8073-17DE26C9F6E3}" type="slidenum">
              <a:rPr lang="en-US" smtClean="0"/>
              <a:pPr/>
              <a:t>4</a:t>
            </a:fld>
            <a:endParaRPr lang="ko-KR" altLang="en-US" dirty="0"/>
          </a:p>
        </p:txBody>
      </p:sp>
      <p:sp>
        <p:nvSpPr>
          <p:cNvPr id="19" name="사각형: 둥근 모서리 15">
            <a:extLst>
              <a:ext uri="{FF2B5EF4-FFF2-40B4-BE49-F238E27FC236}">
                <a16:creationId xmlns:a16="http://schemas.microsoft.com/office/drawing/2014/main" id="{995AAEED-EF06-9754-4DBF-558DF3ECC683}"/>
              </a:ext>
            </a:extLst>
          </p:cNvPr>
          <p:cNvSpPr/>
          <p:nvPr/>
        </p:nvSpPr>
        <p:spPr>
          <a:xfrm>
            <a:off x="623888" y="1340361"/>
            <a:ext cx="10944225" cy="4123416"/>
          </a:xfrm>
          <a:prstGeom prst="roundRect">
            <a:avLst>
              <a:gd name="adj" fmla="val 28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/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marL="742950" lvl="1" indent="-285750">
              <a:buFont typeface="맑은 고딕" panose="020B0503020000020004" pitchFamily="50" charset="-127"/>
              <a:buChar char="-"/>
            </a:pPr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9D95A7-EAEB-F2A3-2A7D-B9A98B187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029137"/>
              </p:ext>
            </p:extLst>
          </p:nvPr>
        </p:nvGraphicFramePr>
        <p:xfrm>
          <a:off x="857808" y="1422621"/>
          <a:ext cx="10404360" cy="3500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54841">
                  <a:extLst>
                    <a:ext uri="{9D8B030D-6E8A-4147-A177-3AD203B41FA5}">
                      <a16:colId xmlns:a16="http://schemas.microsoft.com/office/drawing/2014/main" val="1738922092"/>
                    </a:ext>
                  </a:extLst>
                </a:gridCol>
                <a:gridCol w="8449519">
                  <a:extLst>
                    <a:ext uri="{9D8B030D-6E8A-4147-A177-3AD203B41FA5}">
                      <a16:colId xmlns:a16="http://schemas.microsoft.com/office/drawing/2014/main" val="31897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시나리오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25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Ref</a:t>
                      </a:r>
                      <a:endParaRPr lang="ko-KR" altLang="en-US" sz="14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기준 시나리오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(business-as-usual)</a:t>
                      </a: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한국 정부의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net-zero 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시나리오 기반의 실질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GDP 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경로 반영</a:t>
                      </a:r>
                      <a:endPara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노동생산성 조정을 통해 경제 성장 경로 보정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806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NZ</a:t>
                      </a:r>
                      <a:endParaRPr lang="ko-KR" altLang="en-US" sz="14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2050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년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net-zero 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달성을 위한 전 부문 탄소가격 부과</a:t>
                      </a:r>
                      <a:endPara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잔여 배출량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59.1MtCO2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는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AFOLU 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및 해외 감축 </a:t>
                      </a:r>
                      <a:r>
                        <a:rPr lang="ko-KR" altLang="en-US" sz="12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크레딧으로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상쇄</a:t>
                      </a:r>
                      <a:endPara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직접배출에 단일 탄소가격 적용</a:t>
                      </a:r>
                      <a:endPara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탄소세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수입은 근로소득세 감면에 활용</a:t>
                      </a:r>
                      <a:endPara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태양광〮풍력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CAPEX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는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NREL ATB(2022)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의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‘advanced’ 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시나리오를 따름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548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NZCCS</a:t>
                      </a:r>
                      <a:endParaRPr lang="ko-KR" altLang="en-US" sz="14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NZ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와 동일하나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DAC </a:t>
                      </a:r>
                      <a:r>
                        <a:rPr lang="ko-KR" altLang="en-US" sz="12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학습률을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10% → 15%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로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상향</a:t>
                      </a:r>
                      <a:endPara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021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NZH2</a:t>
                      </a:r>
                      <a:endParaRPr lang="ko-KR" altLang="en-US" sz="14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NZ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와 동일하나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2050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년까지 수소 수입 단가를 절반으로 감소</a:t>
                      </a:r>
                      <a:endPara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92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Nznuc</a:t>
                      </a:r>
                      <a:endParaRPr lang="en-US" altLang="ko-KR" sz="14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NZ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와 동일하나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2037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년에 원전 용량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2.8GW 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추가 도입</a:t>
                      </a:r>
                      <a:endPara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336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NZRenLo</a:t>
                      </a:r>
                      <a:endParaRPr lang="en-US" altLang="ko-KR" sz="14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NZ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와 동일하나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태양광〮풍력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CAPEX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는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NREL ATB(2022)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의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‘conservative’ 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시나리오를 따름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낮은 비용 절감을 가정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491267"/>
                  </a:ext>
                </a:extLst>
              </a:tr>
            </a:tbl>
          </a:graphicData>
        </a:graphic>
      </p:graphicFrame>
      <p:sp>
        <p:nvSpPr>
          <p:cNvPr id="4" name="object 109">
            <a:extLst>
              <a:ext uri="{FF2B5EF4-FFF2-40B4-BE49-F238E27FC236}">
                <a16:creationId xmlns:a16="http://schemas.microsoft.com/office/drawing/2014/main" id="{DEF2ECE7-BAA0-F586-E3B8-83B24693D42D}"/>
              </a:ext>
            </a:extLst>
          </p:cNvPr>
          <p:cNvSpPr/>
          <p:nvPr/>
        </p:nvSpPr>
        <p:spPr>
          <a:xfrm>
            <a:off x="455472" y="687120"/>
            <a:ext cx="153670" cy="153670"/>
          </a:xfrm>
          <a:custGeom>
            <a:avLst/>
            <a:gdLst/>
            <a:ahLst/>
            <a:cxnLst/>
            <a:rect l="l" t="t" r="r" b="b"/>
            <a:pathLst>
              <a:path w="153670" h="153669">
                <a:moveTo>
                  <a:pt x="57086" y="113157"/>
                </a:moveTo>
                <a:lnTo>
                  <a:pt x="55854" y="106807"/>
                </a:lnTo>
                <a:lnTo>
                  <a:pt x="52120" y="101219"/>
                </a:lnTo>
                <a:lnTo>
                  <a:pt x="46520" y="97523"/>
                </a:lnTo>
                <a:lnTo>
                  <a:pt x="40144" y="96278"/>
                </a:lnTo>
                <a:lnTo>
                  <a:pt x="33769" y="97523"/>
                </a:lnTo>
                <a:lnTo>
                  <a:pt x="28168" y="101219"/>
                </a:lnTo>
                <a:lnTo>
                  <a:pt x="4965" y="124358"/>
                </a:lnTo>
                <a:lnTo>
                  <a:pt x="1244" y="129959"/>
                </a:lnTo>
                <a:lnTo>
                  <a:pt x="0" y="136309"/>
                </a:lnTo>
                <a:lnTo>
                  <a:pt x="1244" y="142671"/>
                </a:lnTo>
                <a:lnTo>
                  <a:pt x="4965" y="148247"/>
                </a:lnTo>
                <a:lnTo>
                  <a:pt x="8255" y="151549"/>
                </a:lnTo>
                <a:lnTo>
                  <a:pt x="12611" y="153200"/>
                </a:lnTo>
                <a:lnTo>
                  <a:pt x="16941" y="153200"/>
                </a:lnTo>
                <a:lnTo>
                  <a:pt x="21259" y="153200"/>
                </a:lnTo>
                <a:lnTo>
                  <a:pt x="25615" y="151549"/>
                </a:lnTo>
                <a:lnTo>
                  <a:pt x="52120" y="125107"/>
                </a:lnTo>
                <a:lnTo>
                  <a:pt x="55854" y="119519"/>
                </a:lnTo>
                <a:lnTo>
                  <a:pt x="57086" y="113157"/>
                </a:lnTo>
                <a:close/>
              </a:path>
              <a:path w="153670" h="153669">
                <a:moveTo>
                  <a:pt x="57086" y="40030"/>
                </a:moveTo>
                <a:lnTo>
                  <a:pt x="28917" y="4940"/>
                </a:lnTo>
                <a:lnTo>
                  <a:pt x="16941" y="0"/>
                </a:lnTo>
                <a:lnTo>
                  <a:pt x="10566" y="1244"/>
                </a:lnTo>
                <a:lnTo>
                  <a:pt x="4965" y="4940"/>
                </a:lnTo>
                <a:lnTo>
                  <a:pt x="1244" y="10541"/>
                </a:lnTo>
                <a:lnTo>
                  <a:pt x="0" y="16891"/>
                </a:lnTo>
                <a:lnTo>
                  <a:pt x="1244" y="23253"/>
                </a:lnTo>
                <a:lnTo>
                  <a:pt x="4965" y="28829"/>
                </a:lnTo>
                <a:lnTo>
                  <a:pt x="31457" y="55270"/>
                </a:lnTo>
                <a:lnTo>
                  <a:pt x="35814" y="56921"/>
                </a:lnTo>
                <a:lnTo>
                  <a:pt x="40132" y="56921"/>
                </a:lnTo>
                <a:lnTo>
                  <a:pt x="44488" y="56921"/>
                </a:lnTo>
                <a:lnTo>
                  <a:pt x="48806" y="55270"/>
                </a:lnTo>
                <a:lnTo>
                  <a:pt x="52120" y="51981"/>
                </a:lnTo>
                <a:lnTo>
                  <a:pt x="55854" y="46393"/>
                </a:lnTo>
                <a:lnTo>
                  <a:pt x="57086" y="40030"/>
                </a:lnTo>
                <a:close/>
              </a:path>
              <a:path w="153670" h="153669">
                <a:moveTo>
                  <a:pt x="153619" y="136321"/>
                </a:moveTo>
                <a:lnTo>
                  <a:pt x="125450" y="101219"/>
                </a:lnTo>
                <a:lnTo>
                  <a:pt x="113474" y="96278"/>
                </a:lnTo>
                <a:lnTo>
                  <a:pt x="107099" y="97523"/>
                </a:lnTo>
                <a:lnTo>
                  <a:pt x="101498" y="101219"/>
                </a:lnTo>
                <a:lnTo>
                  <a:pt x="97777" y="106819"/>
                </a:lnTo>
                <a:lnTo>
                  <a:pt x="96532" y="113169"/>
                </a:lnTo>
                <a:lnTo>
                  <a:pt x="97777" y="119532"/>
                </a:lnTo>
                <a:lnTo>
                  <a:pt x="101498" y="125107"/>
                </a:lnTo>
                <a:lnTo>
                  <a:pt x="128016" y="151549"/>
                </a:lnTo>
                <a:lnTo>
                  <a:pt x="132359" y="153200"/>
                </a:lnTo>
                <a:lnTo>
                  <a:pt x="136690" y="153200"/>
                </a:lnTo>
                <a:lnTo>
                  <a:pt x="141020" y="153200"/>
                </a:lnTo>
                <a:lnTo>
                  <a:pt x="145364" y="151549"/>
                </a:lnTo>
                <a:lnTo>
                  <a:pt x="148653" y="148272"/>
                </a:lnTo>
                <a:lnTo>
                  <a:pt x="152374" y="142671"/>
                </a:lnTo>
                <a:lnTo>
                  <a:pt x="153619" y="136321"/>
                </a:lnTo>
                <a:close/>
              </a:path>
              <a:path w="153670" h="153669">
                <a:moveTo>
                  <a:pt x="153631" y="16903"/>
                </a:moveTo>
                <a:lnTo>
                  <a:pt x="152400" y="10541"/>
                </a:lnTo>
                <a:lnTo>
                  <a:pt x="148678" y="4965"/>
                </a:lnTo>
                <a:lnTo>
                  <a:pt x="143065" y="1257"/>
                </a:lnTo>
                <a:lnTo>
                  <a:pt x="136690" y="25"/>
                </a:lnTo>
                <a:lnTo>
                  <a:pt x="130314" y="1257"/>
                </a:lnTo>
                <a:lnTo>
                  <a:pt x="124714" y="4965"/>
                </a:lnTo>
                <a:lnTo>
                  <a:pt x="101523" y="28079"/>
                </a:lnTo>
                <a:lnTo>
                  <a:pt x="97790" y="33667"/>
                </a:lnTo>
                <a:lnTo>
                  <a:pt x="96545" y="40030"/>
                </a:lnTo>
                <a:lnTo>
                  <a:pt x="97790" y="46380"/>
                </a:lnTo>
                <a:lnTo>
                  <a:pt x="101523" y="51968"/>
                </a:lnTo>
                <a:lnTo>
                  <a:pt x="104813" y="55270"/>
                </a:lnTo>
                <a:lnTo>
                  <a:pt x="109156" y="56921"/>
                </a:lnTo>
                <a:lnTo>
                  <a:pt x="113487" y="56921"/>
                </a:lnTo>
                <a:lnTo>
                  <a:pt x="117817" y="56921"/>
                </a:lnTo>
                <a:lnTo>
                  <a:pt x="122135" y="55270"/>
                </a:lnTo>
                <a:lnTo>
                  <a:pt x="148678" y="28854"/>
                </a:lnTo>
                <a:lnTo>
                  <a:pt x="152400" y="23253"/>
                </a:lnTo>
                <a:lnTo>
                  <a:pt x="153631" y="16903"/>
                </a:lnTo>
                <a:close/>
              </a:path>
            </a:pathLst>
          </a:custGeom>
          <a:solidFill>
            <a:srgbClr val="468BA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5611F-C5F1-06FB-662A-624B92AF7A39}"/>
              </a:ext>
            </a:extLst>
          </p:cNvPr>
          <p:cNvSpPr txBox="1"/>
          <p:nvPr/>
        </p:nvSpPr>
        <p:spPr>
          <a:xfrm>
            <a:off x="609142" y="594359"/>
            <a:ext cx="455975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UNICON-K_v2 : (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한국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 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경제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-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전력 연계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468CAF"/>
              </a:solidFill>
              <a:effectLst/>
              <a:uLnTx/>
              <a:uFillTx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902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BD665-04C2-35EA-77BE-2E65ED84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5">
            <a:extLst>
              <a:ext uri="{FF2B5EF4-FFF2-40B4-BE49-F238E27FC236}">
                <a16:creationId xmlns:a16="http://schemas.microsoft.com/office/drawing/2014/main" id="{CE2D25E9-0A67-0C44-F748-D079FF9D5935}"/>
              </a:ext>
            </a:extLst>
          </p:cNvPr>
          <p:cNvSpPr/>
          <p:nvPr/>
        </p:nvSpPr>
        <p:spPr>
          <a:xfrm>
            <a:off x="642429" y="1376363"/>
            <a:ext cx="11322559" cy="5330165"/>
          </a:xfrm>
          <a:prstGeom prst="roundRect">
            <a:avLst>
              <a:gd name="adj" fmla="val 28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/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marL="742950" lvl="1" indent="-285750">
              <a:buFont typeface="맑은 고딕" panose="020B0503020000020004" pitchFamily="50" charset="-127"/>
              <a:buChar char="-"/>
            </a:pPr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pSp>
        <p:nvGrpSpPr>
          <p:cNvPr id="105" name="object 105">
            <a:extLst>
              <a:ext uri="{FF2B5EF4-FFF2-40B4-BE49-F238E27FC236}">
                <a16:creationId xmlns:a16="http://schemas.microsoft.com/office/drawing/2014/main" id="{C575741E-D5E2-99C0-461F-DE2478928A11}"/>
              </a:ext>
            </a:extLst>
          </p:cNvPr>
          <p:cNvGrpSpPr/>
          <p:nvPr/>
        </p:nvGrpSpPr>
        <p:grpSpPr>
          <a:xfrm>
            <a:off x="300227" y="272795"/>
            <a:ext cx="66040" cy="242570"/>
            <a:chOff x="300227" y="272795"/>
            <a:chExt cx="66040" cy="242570"/>
          </a:xfrm>
        </p:grpSpPr>
        <p:pic>
          <p:nvPicPr>
            <p:cNvPr id="106" name="object 106">
              <a:extLst>
                <a:ext uri="{FF2B5EF4-FFF2-40B4-BE49-F238E27FC236}">
                  <a16:creationId xmlns:a16="http://schemas.microsoft.com/office/drawing/2014/main" id="{2D7C8A4E-74BA-209F-A0C1-9AA6B36A312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227" y="272795"/>
              <a:ext cx="65532" cy="64007"/>
            </a:xfrm>
            <a:prstGeom prst="rect">
              <a:avLst/>
            </a:prstGeom>
          </p:spPr>
        </p:pic>
        <p:pic>
          <p:nvPicPr>
            <p:cNvPr id="107" name="object 107">
              <a:extLst>
                <a:ext uri="{FF2B5EF4-FFF2-40B4-BE49-F238E27FC236}">
                  <a16:creationId xmlns:a16="http://schemas.microsoft.com/office/drawing/2014/main" id="{BC45022A-B157-C8FE-2512-EE1FDA654C2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227" y="361187"/>
              <a:ext cx="65532" cy="65532"/>
            </a:xfrm>
            <a:prstGeom prst="rect">
              <a:avLst/>
            </a:prstGeom>
          </p:spPr>
        </p:pic>
        <p:pic>
          <p:nvPicPr>
            <p:cNvPr id="108" name="object 108">
              <a:extLst>
                <a:ext uri="{FF2B5EF4-FFF2-40B4-BE49-F238E27FC236}">
                  <a16:creationId xmlns:a16="http://schemas.microsoft.com/office/drawing/2014/main" id="{FBEE7D15-0327-E5DE-8D36-D8F123CF295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227" y="451103"/>
              <a:ext cx="65532" cy="64008"/>
            </a:xfrm>
            <a:prstGeom prst="rect">
              <a:avLst/>
            </a:prstGeom>
          </p:spPr>
        </p:pic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9DC45D08-62A6-7737-F8A3-DFDD2C42F99B}"/>
              </a:ext>
            </a:extLst>
          </p:cNvPr>
          <p:cNvSpPr txBox="1"/>
          <p:nvPr/>
        </p:nvSpPr>
        <p:spPr>
          <a:xfrm>
            <a:off x="422275" y="208166"/>
            <a:ext cx="42132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</a:t>
            </a:r>
            <a:r>
              <a:rPr lang="ko-KR" altLang="en-US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총괄</a:t>
            </a:r>
            <a:r>
              <a:rPr lang="en-US" altLang="ko-KR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1] </a:t>
            </a:r>
            <a:r>
              <a:rPr lang="ko-KR" altLang="en-US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연세대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effectLst/>
                <a:uLnTx/>
                <a:uFillTx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분석 시나리오</a:t>
            </a:r>
          </a:p>
        </p:txBody>
      </p:sp>
      <p:pic>
        <p:nvPicPr>
          <p:cNvPr id="118" name="object 6">
            <a:extLst>
              <a:ext uri="{FF2B5EF4-FFF2-40B4-BE49-F238E27FC236}">
                <a16:creationId xmlns:a16="http://schemas.microsoft.com/office/drawing/2014/main" id="{CC75C9F7-805E-1F38-5840-C4591CCD2B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43485" y="361188"/>
            <a:ext cx="7920000" cy="65532"/>
          </a:xfrm>
          <a:prstGeom prst="rect">
            <a:avLst/>
          </a:prstGeom>
        </p:spPr>
      </p:pic>
      <p:pic>
        <p:nvPicPr>
          <p:cNvPr id="1026" name="Picture 2" descr="선택됨">
            <a:extLst>
              <a:ext uri="{FF2B5EF4-FFF2-40B4-BE49-F238E27FC236}">
                <a16:creationId xmlns:a16="http://schemas.microsoft.com/office/drawing/2014/main" id="{616474B3-3EBA-913A-551E-E52425D54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5850" y="6342063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사각형: 둥근 모서리 15">
            <a:extLst>
              <a:ext uri="{FF2B5EF4-FFF2-40B4-BE49-F238E27FC236}">
                <a16:creationId xmlns:a16="http://schemas.microsoft.com/office/drawing/2014/main" id="{42A347A3-465C-CA17-963A-42D083EBC955}"/>
              </a:ext>
            </a:extLst>
          </p:cNvPr>
          <p:cNvSpPr/>
          <p:nvPr/>
        </p:nvSpPr>
        <p:spPr>
          <a:xfrm>
            <a:off x="623888" y="949773"/>
            <a:ext cx="10944226" cy="309600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분석 결과 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배출량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천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tCO2), </a:t>
            </a:r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탄소가격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백만원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/tCO2), </a:t>
            </a:r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실질소비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(Ref </a:t>
            </a:r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대비 변화율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), </a:t>
            </a:r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 지표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(2019~2049, Ref </a:t>
            </a:r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대비 변화율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), </a:t>
            </a:r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전원 구성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(GWh, 2049</a:t>
            </a:r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r>
              <a:rPr lang="ko-KR" altLang="en-US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등</a:t>
            </a:r>
            <a:r>
              <a:rPr lang="en-US" altLang="ko-KR" sz="13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</a:p>
        </p:txBody>
      </p:sp>
      <p:pic>
        <p:nvPicPr>
          <p:cNvPr id="7" name="그림 4">
            <a:extLst>
              <a:ext uri="{FF2B5EF4-FFF2-40B4-BE49-F238E27FC236}">
                <a16:creationId xmlns:a16="http://schemas.microsoft.com/office/drawing/2014/main" id="{5F598DF7-2226-1B39-EA8E-DF1038183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164" y="1036620"/>
            <a:ext cx="173289" cy="127864"/>
          </a:xfrm>
          <a:prstGeom prst="rect">
            <a:avLst/>
          </a:prstGeom>
        </p:spPr>
      </p:pic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327484D8-446C-2ACD-4CD1-1970D746AE55}"/>
              </a:ext>
            </a:extLst>
          </p:cNvPr>
          <p:cNvSpPr txBox="1">
            <a:spLocks/>
          </p:cNvSpPr>
          <p:nvPr/>
        </p:nvSpPr>
        <p:spPr>
          <a:xfrm>
            <a:off x="11586654" y="6513500"/>
            <a:ext cx="381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474013-A174-42CD-8073-17DE26C9F6E3}" type="slidenum">
              <a:rPr 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object 109">
            <a:extLst>
              <a:ext uri="{FF2B5EF4-FFF2-40B4-BE49-F238E27FC236}">
                <a16:creationId xmlns:a16="http://schemas.microsoft.com/office/drawing/2014/main" id="{FB914F93-D267-BEC0-E682-EA6B80D1F287}"/>
              </a:ext>
            </a:extLst>
          </p:cNvPr>
          <p:cNvSpPr/>
          <p:nvPr/>
        </p:nvSpPr>
        <p:spPr>
          <a:xfrm>
            <a:off x="455472" y="687120"/>
            <a:ext cx="153670" cy="153670"/>
          </a:xfrm>
          <a:custGeom>
            <a:avLst/>
            <a:gdLst/>
            <a:ahLst/>
            <a:cxnLst/>
            <a:rect l="l" t="t" r="r" b="b"/>
            <a:pathLst>
              <a:path w="153670" h="153669">
                <a:moveTo>
                  <a:pt x="57086" y="113157"/>
                </a:moveTo>
                <a:lnTo>
                  <a:pt x="55854" y="106807"/>
                </a:lnTo>
                <a:lnTo>
                  <a:pt x="52120" y="101219"/>
                </a:lnTo>
                <a:lnTo>
                  <a:pt x="46520" y="97523"/>
                </a:lnTo>
                <a:lnTo>
                  <a:pt x="40144" y="96278"/>
                </a:lnTo>
                <a:lnTo>
                  <a:pt x="33769" y="97523"/>
                </a:lnTo>
                <a:lnTo>
                  <a:pt x="28168" y="101219"/>
                </a:lnTo>
                <a:lnTo>
                  <a:pt x="4965" y="124358"/>
                </a:lnTo>
                <a:lnTo>
                  <a:pt x="1244" y="129959"/>
                </a:lnTo>
                <a:lnTo>
                  <a:pt x="0" y="136309"/>
                </a:lnTo>
                <a:lnTo>
                  <a:pt x="1244" y="142671"/>
                </a:lnTo>
                <a:lnTo>
                  <a:pt x="4965" y="148247"/>
                </a:lnTo>
                <a:lnTo>
                  <a:pt x="8255" y="151549"/>
                </a:lnTo>
                <a:lnTo>
                  <a:pt x="12611" y="153200"/>
                </a:lnTo>
                <a:lnTo>
                  <a:pt x="16941" y="153200"/>
                </a:lnTo>
                <a:lnTo>
                  <a:pt x="21259" y="153200"/>
                </a:lnTo>
                <a:lnTo>
                  <a:pt x="25615" y="151549"/>
                </a:lnTo>
                <a:lnTo>
                  <a:pt x="52120" y="125107"/>
                </a:lnTo>
                <a:lnTo>
                  <a:pt x="55854" y="119519"/>
                </a:lnTo>
                <a:lnTo>
                  <a:pt x="57086" y="113157"/>
                </a:lnTo>
                <a:close/>
              </a:path>
              <a:path w="153670" h="153669">
                <a:moveTo>
                  <a:pt x="57086" y="40030"/>
                </a:moveTo>
                <a:lnTo>
                  <a:pt x="28917" y="4940"/>
                </a:lnTo>
                <a:lnTo>
                  <a:pt x="16941" y="0"/>
                </a:lnTo>
                <a:lnTo>
                  <a:pt x="10566" y="1244"/>
                </a:lnTo>
                <a:lnTo>
                  <a:pt x="4965" y="4940"/>
                </a:lnTo>
                <a:lnTo>
                  <a:pt x="1244" y="10541"/>
                </a:lnTo>
                <a:lnTo>
                  <a:pt x="0" y="16891"/>
                </a:lnTo>
                <a:lnTo>
                  <a:pt x="1244" y="23253"/>
                </a:lnTo>
                <a:lnTo>
                  <a:pt x="4965" y="28829"/>
                </a:lnTo>
                <a:lnTo>
                  <a:pt x="31457" y="55270"/>
                </a:lnTo>
                <a:lnTo>
                  <a:pt x="35814" y="56921"/>
                </a:lnTo>
                <a:lnTo>
                  <a:pt x="40132" y="56921"/>
                </a:lnTo>
                <a:lnTo>
                  <a:pt x="44488" y="56921"/>
                </a:lnTo>
                <a:lnTo>
                  <a:pt x="48806" y="55270"/>
                </a:lnTo>
                <a:lnTo>
                  <a:pt x="52120" y="51981"/>
                </a:lnTo>
                <a:lnTo>
                  <a:pt x="55854" y="46393"/>
                </a:lnTo>
                <a:lnTo>
                  <a:pt x="57086" y="40030"/>
                </a:lnTo>
                <a:close/>
              </a:path>
              <a:path w="153670" h="153669">
                <a:moveTo>
                  <a:pt x="153619" y="136321"/>
                </a:moveTo>
                <a:lnTo>
                  <a:pt x="125450" y="101219"/>
                </a:lnTo>
                <a:lnTo>
                  <a:pt x="113474" y="96278"/>
                </a:lnTo>
                <a:lnTo>
                  <a:pt x="107099" y="97523"/>
                </a:lnTo>
                <a:lnTo>
                  <a:pt x="101498" y="101219"/>
                </a:lnTo>
                <a:lnTo>
                  <a:pt x="97777" y="106819"/>
                </a:lnTo>
                <a:lnTo>
                  <a:pt x="96532" y="113169"/>
                </a:lnTo>
                <a:lnTo>
                  <a:pt x="97777" y="119532"/>
                </a:lnTo>
                <a:lnTo>
                  <a:pt x="101498" y="125107"/>
                </a:lnTo>
                <a:lnTo>
                  <a:pt x="128016" y="151549"/>
                </a:lnTo>
                <a:lnTo>
                  <a:pt x="132359" y="153200"/>
                </a:lnTo>
                <a:lnTo>
                  <a:pt x="136690" y="153200"/>
                </a:lnTo>
                <a:lnTo>
                  <a:pt x="141020" y="153200"/>
                </a:lnTo>
                <a:lnTo>
                  <a:pt x="145364" y="151549"/>
                </a:lnTo>
                <a:lnTo>
                  <a:pt x="148653" y="148272"/>
                </a:lnTo>
                <a:lnTo>
                  <a:pt x="152374" y="142671"/>
                </a:lnTo>
                <a:lnTo>
                  <a:pt x="153619" y="136321"/>
                </a:lnTo>
                <a:close/>
              </a:path>
              <a:path w="153670" h="153669">
                <a:moveTo>
                  <a:pt x="153631" y="16903"/>
                </a:moveTo>
                <a:lnTo>
                  <a:pt x="152400" y="10541"/>
                </a:lnTo>
                <a:lnTo>
                  <a:pt x="148678" y="4965"/>
                </a:lnTo>
                <a:lnTo>
                  <a:pt x="143065" y="1257"/>
                </a:lnTo>
                <a:lnTo>
                  <a:pt x="136690" y="25"/>
                </a:lnTo>
                <a:lnTo>
                  <a:pt x="130314" y="1257"/>
                </a:lnTo>
                <a:lnTo>
                  <a:pt x="124714" y="4965"/>
                </a:lnTo>
                <a:lnTo>
                  <a:pt x="101523" y="28079"/>
                </a:lnTo>
                <a:lnTo>
                  <a:pt x="97790" y="33667"/>
                </a:lnTo>
                <a:lnTo>
                  <a:pt x="96545" y="40030"/>
                </a:lnTo>
                <a:lnTo>
                  <a:pt x="97790" y="46380"/>
                </a:lnTo>
                <a:lnTo>
                  <a:pt x="101523" y="51968"/>
                </a:lnTo>
                <a:lnTo>
                  <a:pt x="104813" y="55270"/>
                </a:lnTo>
                <a:lnTo>
                  <a:pt x="109156" y="56921"/>
                </a:lnTo>
                <a:lnTo>
                  <a:pt x="113487" y="56921"/>
                </a:lnTo>
                <a:lnTo>
                  <a:pt x="117817" y="56921"/>
                </a:lnTo>
                <a:lnTo>
                  <a:pt x="122135" y="55270"/>
                </a:lnTo>
                <a:lnTo>
                  <a:pt x="148678" y="28854"/>
                </a:lnTo>
                <a:lnTo>
                  <a:pt x="152400" y="23253"/>
                </a:lnTo>
                <a:lnTo>
                  <a:pt x="153631" y="16903"/>
                </a:lnTo>
                <a:close/>
              </a:path>
            </a:pathLst>
          </a:custGeom>
          <a:solidFill>
            <a:srgbClr val="468BA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7DA85-BEFD-56AF-B492-22E030B0DFD4}"/>
              </a:ext>
            </a:extLst>
          </p:cNvPr>
          <p:cNvSpPr txBox="1"/>
          <p:nvPr/>
        </p:nvSpPr>
        <p:spPr>
          <a:xfrm>
            <a:off x="609142" y="594359"/>
            <a:ext cx="455975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UNICON-K_v2 : (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한국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 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경제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-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전력 연계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468CAF"/>
              </a:solidFill>
              <a:effectLst/>
              <a:uLnTx/>
              <a:uFillTx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DB7006-EB9F-96AC-17E0-A1FEABD152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124" y="1527141"/>
            <a:ext cx="3433724" cy="2325699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A0ED7AE-5989-2BD0-720F-66ECC421BD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142" y="1527141"/>
            <a:ext cx="3756263" cy="2330677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CCEC5F0-3B29-859A-9C32-0F37DD69CD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8167" y="4022161"/>
            <a:ext cx="4855393" cy="2472302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8FF4E7B-9C84-7FAD-D45C-34D7141123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1848" y="4017552"/>
            <a:ext cx="4521200" cy="2476911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6FD20F3-9F2D-A45C-9758-7E5177981B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6823" y="1527140"/>
            <a:ext cx="3941917" cy="2325699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140613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73FCB-F908-D0B6-FA73-78CCA3B3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15">
            <a:extLst>
              <a:ext uri="{FF2B5EF4-FFF2-40B4-BE49-F238E27FC236}">
                <a16:creationId xmlns:a16="http://schemas.microsoft.com/office/drawing/2014/main" id="{604C8390-ABF3-47AE-808A-E3C040E60F7A}"/>
              </a:ext>
            </a:extLst>
          </p:cNvPr>
          <p:cNvSpPr/>
          <p:nvPr/>
        </p:nvSpPr>
        <p:spPr>
          <a:xfrm>
            <a:off x="623888" y="3317571"/>
            <a:ext cx="10944226" cy="309850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</a:t>
            </a:r>
            <a:r>
              <a:rPr lang="ko-KR" altLang="en-US" sz="13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초기 분석 결과 </a:t>
            </a:r>
            <a:r>
              <a:rPr lang="en-US" altLang="ko-KR" sz="13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sz="13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 결과 변수</a:t>
            </a:r>
            <a:r>
              <a:rPr lang="en-US" altLang="ko-KR" sz="13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</a:p>
        </p:txBody>
      </p:sp>
      <p:grpSp>
        <p:nvGrpSpPr>
          <p:cNvPr id="105" name="object 105">
            <a:extLst>
              <a:ext uri="{FF2B5EF4-FFF2-40B4-BE49-F238E27FC236}">
                <a16:creationId xmlns:a16="http://schemas.microsoft.com/office/drawing/2014/main" id="{358336B5-B62D-2C82-A42A-BB376D191C02}"/>
              </a:ext>
            </a:extLst>
          </p:cNvPr>
          <p:cNvGrpSpPr/>
          <p:nvPr/>
        </p:nvGrpSpPr>
        <p:grpSpPr>
          <a:xfrm>
            <a:off x="300227" y="272795"/>
            <a:ext cx="66040" cy="242570"/>
            <a:chOff x="300227" y="272795"/>
            <a:chExt cx="66040" cy="242570"/>
          </a:xfrm>
        </p:grpSpPr>
        <p:pic>
          <p:nvPicPr>
            <p:cNvPr id="106" name="object 106">
              <a:extLst>
                <a:ext uri="{FF2B5EF4-FFF2-40B4-BE49-F238E27FC236}">
                  <a16:creationId xmlns:a16="http://schemas.microsoft.com/office/drawing/2014/main" id="{AC042A23-6BE6-1436-1C9C-772B22419AE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227" y="272795"/>
              <a:ext cx="65532" cy="64007"/>
            </a:xfrm>
            <a:prstGeom prst="rect">
              <a:avLst/>
            </a:prstGeom>
          </p:spPr>
        </p:pic>
        <p:pic>
          <p:nvPicPr>
            <p:cNvPr id="107" name="object 107">
              <a:extLst>
                <a:ext uri="{FF2B5EF4-FFF2-40B4-BE49-F238E27FC236}">
                  <a16:creationId xmlns:a16="http://schemas.microsoft.com/office/drawing/2014/main" id="{2FB4C5A1-7B83-D300-96C8-81A8AD11184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227" y="361187"/>
              <a:ext cx="65532" cy="65532"/>
            </a:xfrm>
            <a:prstGeom prst="rect">
              <a:avLst/>
            </a:prstGeom>
          </p:spPr>
        </p:pic>
        <p:pic>
          <p:nvPicPr>
            <p:cNvPr id="108" name="object 108">
              <a:extLst>
                <a:ext uri="{FF2B5EF4-FFF2-40B4-BE49-F238E27FC236}">
                  <a16:creationId xmlns:a16="http://schemas.microsoft.com/office/drawing/2014/main" id="{6DA6C909-9A51-6EDC-220F-B8CDE833880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227" y="451103"/>
              <a:ext cx="65532" cy="64008"/>
            </a:xfrm>
            <a:prstGeom prst="rect">
              <a:avLst/>
            </a:prstGeom>
          </p:spPr>
        </p:pic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349A155D-572E-EC17-8498-47BE2FFFC6EC}"/>
              </a:ext>
            </a:extLst>
          </p:cNvPr>
          <p:cNvSpPr txBox="1"/>
          <p:nvPr/>
        </p:nvSpPr>
        <p:spPr>
          <a:xfrm>
            <a:off x="422275" y="208166"/>
            <a:ext cx="42132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</a:t>
            </a:r>
            <a:r>
              <a:rPr lang="ko-KR" altLang="en-US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총괄</a:t>
            </a:r>
            <a:r>
              <a:rPr lang="en-US" altLang="ko-KR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1] </a:t>
            </a:r>
            <a:r>
              <a:rPr lang="ko-KR" altLang="en-US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연세대 분석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effectLst/>
                <a:uLnTx/>
                <a:uFillTx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시나리오</a:t>
            </a:r>
          </a:p>
        </p:txBody>
      </p:sp>
      <p:pic>
        <p:nvPicPr>
          <p:cNvPr id="118" name="object 6">
            <a:extLst>
              <a:ext uri="{FF2B5EF4-FFF2-40B4-BE49-F238E27FC236}">
                <a16:creationId xmlns:a16="http://schemas.microsoft.com/office/drawing/2014/main" id="{491DCC00-8B26-35C1-90D8-2113758DA6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43485" y="361188"/>
            <a:ext cx="7920000" cy="65532"/>
          </a:xfrm>
          <a:prstGeom prst="rect">
            <a:avLst/>
          </a:prstGeom>
        </p:spPr>
      </p:pic>
      <p:pic>
        <p:nvPicPr>
          <p:cNvPr id="1026" name="Picture 2" descr="선택됨">
            <a:extLst>
              <a:ext uri="{FF2B5EF4-FFF2-40B4-BE49-F238E27FC236}">
                <a16:creationId xmlns:a16="http://schemas.microsoft.com/office/drawing/2014/main" id="{6F0A9045-A7AE-9251-F514-BCAB8FF9B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5850" y="6342063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사각형: 둥근 모서리 15">
            <a:extLst>
              <a:ext uri="{FF2B5EF4-FFF2-40B4-BE49-F238E27FC236}">
                <a16:creationId xmlns:a16="http://schemas.microsoft.com/office/drawing/2014/main" id="{7E6BEF14-410C-63EA-CFCE-55A461328687}"/>
              </a:ext>
            </a:extLst>
          </p:cNvPr>
          <p:cNvSpPr/>
          <p:nvPr/>
        </p:nvSpPr>
        <p:spPr>
          <a:xfrm>
            <a:off x="623887" y="949774"/>
            <a:ext cx="10944226" cy="309850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</a:t>
            </a:r>
            <a:r>
              <a:rPr lang="ko-KR" altLang="en-US" sz="13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분석 시나리오</a:t>
            </a:r>
            <a:endParaRPr lang="en-US" altLang="ko-KR" sz="13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7" name="그림 4">
            <a:extLst>
              <a:ext uri="{FF2B5EF4-FFF2-40B4-BE49-F238E27FC236}">
                <a16:creationId xmlns:a16="http://schemas.microsoft.com/office/drawing/2014/main" id="{DDCF806C-E994-3E4A-C162-3EB9DF54B0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163" y="1036620"/>
            <a:ext cx="173289" cy="127864"/>
          </a:xfrm>
          <a:prstGeom prst="rect">
            <a:avLst/>
          </a:prstGeom>
        </p:spPr>
      </p:pic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FF40BD02-9EA4-A559-2650-61F4B3E8960B}"/>
              </a:ext>
            </a:extLst>
          </p:cNvPr>
          <p:cNvSpPr txBox="1">
            <a:spLocks/>
          </p:cNvSpPr>
          <p:nvPr/>
        </p:nvSpPr>
        <p:spPr>
          <a:xfrm>
            <a:off x="11586654" y="6513500"/>
            <a:ext cx="381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474013-A174-42CD-8073-17DE26C9F6E3}" type="slidenum">
              <a:rPr lang="en-US" smtClean="0"/>
              <a:pPr/>
              <a:t>6</a:t>
            </a:fld>
            <a:endParaRPr lang="ko-KR" altLang="en-US" dirty="0"/>
          </a:p>
        </p:txBody>
      </p:sp>
      <p:sp>
        <p:nvSpPr>
          <p:cNvPr id="19" name="사각형: 둥근 모서리 15">
            <a:extLst>
              <a:ext uri="{FF2B5EF4-FFF2-40B4-BE49-F238E27FC236}">
                <a16:creationId xmlns:a16="http://schemas.microsoft.com/office/drawing/2014/main" id="{171CEBF2-CB1D-BA4A-A5EB-385DE61329B0}"/>
              </a:ext>
            </a:extLst>
          </p:cNvPr>
          <p:cNvSpPr/>
          <p:nvPr/>
        </p:nvSpPr>
        <p:spPr>
          <a:xfrm>
            <a:off x="623887" y="1340360"/>
            <a:ext cx="10944225" cy="1890220"/>
          </a:xfrm>
          <a:prstGeom prst="roundRect">
            <a:avLst>
              <a:gd name="adj" fmla="val 28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no-damage (baseline) </a:t>
            </a:r>
            <a:r>
              <a:rPr lang="ko-KR" alt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시나리오의 기본 가정</a:t>
            </a:r>
            <a:endParaRPr lang="en-US" altLang="ko-KR" sz="1300" b="1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42950" lvl="1" indent="-285750">
              <a:buFont typeface="맑은 고딕" panose="020B0503020000020004" pitchFamily="50" charset="-127"/>
              <a:buChar char="-"/>
            </a:pP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GDP : SSP2 (SSP Scenario Explorer 3.1.0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OECD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ENV-Growth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전망 활용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742950" lvl="1" indent="-285750">
              <a:buFont typeface="맑은 고딕" panose="020B0503020000020004" pitchFamily="50" charset="-127"/>
              <a:buChar char="-"/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인구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SSP2 (SSP Scenario Explorer 3.1.0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OECD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ENV-Growth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전망 활용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742950" lvl="1" indent="-285750">
              <a:buFont typeface="맑은 고딕" panose="020B0503020000020004" pitchFamily="50" charset="-127"/>
              <a:buChar char="-"/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배출량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2017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~2023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사이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EDGAR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온실가스 배출량 실적치 준용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42950" lvl="1" indent="-285750">
              <a:buFont typeface="맑은 고딕" panose="020B0503020000020004" pitchFamily="50" charset="-127"/>
              <a:buChar char="-"/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탄소가격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NGFS Phase 5 Scenario Explorer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 Policies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시나리오를 따르는 탄소가격 실적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전망치 준용</a:t>
            </a:r>
            <a:b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* REMIND-</a:t>
            </a:r>
            <a:r>
              <a:rPr lang="en-US" altLang="ko-KR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MAgPIE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모형의 전망 활용 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/>
            <a:endParaRPr lang="en-US" altLang="ko-KR" sz="13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damage</a:t>
            </a:r>
            <a:r>
              <a:rPr lang="ko-KR" alt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시나리오</a:t>
            </a:r>
            <a:endParaRPr lang="en-US" altLang="ko-KR" sz="1300" b="1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lvl="1"/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no-damage + regional/sectoral damage functions</a:t>
            </a:r>
          </a:p>
        </p:txBody>
      </p:sp>
      <p:sp>
        <p:nvSpPr>
          <p:cNvPr id="2" name="object 109">
            <a:extLst>
              <a:ext uri="{FF2B5EF4-FFF2-40B4-BE49-F238E27FC236}">
                <a16:creationId xmlns:a16="http://schemas.microsoft.com/office/drawing/2014/main" id="{ACE02CC3-7874-D771-97FC-CB9904353DB1}"/>
              </a:ext>
            </a:extLst>
          </p:cNvPr>
          <p:cNvSpPr/>
          <p:nvPr/>
        </p:nvSpPr>
        <p:spPr>
          <a:xfrm>
            <a:off x="455472" y="687120"/>
            <a:ext cx="153670" cy="153670"/>
          </a:xfrm>
          <a:custGeom>
            <a:avLst/>
            <a:gdLst/>
            <a:ahLst/>
            <a:cxnLst/>
            <a:rect l="l" t="t" r="r" b="b"/>
            <a:pathLst>
              <a:path w="153670" h="153669">
                <a:moveTo>
                  <a:pt x="57086" y="113157"/>
                </a:moveTo>
                <a:lnTo>
                  <a:pt x="55854" y="106807"/>
                </a:lnTo>
                <a:lnTo>
                  <a:pt x="52120" y="101219"/>
                </a:lnTo>
                <a:lnTo>
                  <a:pt x="46520" y="97523"/>
                </a:lnTo>
                <a:lnTo>
                  <a:pt x="40144" y="96278"/>
                </a:lnTo>
                <a:lnTo>
                  <a:pt x="33769" y="97523"/>
                </a:lnTo>
                <a:lnTo>
                  <a:pt x="28168" y="101219"/>
                </a:lnTo>
                <a:lnTo>
                  <a:pt x="4965" y="124358"/>
                </a:lnTo>
                <a:lnTo>
                  <a:pt x="1244" y="129959"/>
                </a:lnTo>
                <a:lnTo>
                  <a:pt x="0" y="136309"/>
                </a:lnTo>
                <a:lnTo>
                  <a:pt x="1244" y="142671"/>
                </a:lnTo>
                <a:lnTo>
                  <a:pt x="4965" y="148247"/>
                </a:lnTo>
                <a:lnTo>
                  <a:pt x="8255" y="151549"/>
                </a:lnTo>
                <a:lnTo>
                  <a:pt x="12611" y="153200"/>
                </a:lnTo>
                <a:lnTo>
                  <a:pt x="16941" y="153200"/>
                </a:lnTo>
                <a:lnTo>
                  <a:pt x="21259" y="153200"/>
                </a:lnTo>
                <a:lnTo>
                  <a:pt x="25615" y="151549"/>
                </a:lnTo>
                <a:lnTo>
                  <a:pt x="52120" y="125107"/>
                </a:lnTo>
                <a:lnTo>
                  <a:pt x="55854" y="119519"/>
                </a:lnTo>
                <a:lnTo>
                  <a:pt x="57086" y="113157"/>
                </a:lnTo>
                <a:close/>
              </a:path>
              <a:path w="153670" h="153669">
                <a:moveTo>
                  <a:pt x="57086" y="40030"/>
                </a:moveTo>
                <a:lnTo>
                  <a:pt x="28917" y="4940"/>
                </a:lnTo>
                <a:lnTo>
                  <a:pt x="16941" y="0"/>
                </a:lnTo>
                <a:lnTo>
                  <a:pt x="10566" y="1244"/>
                </a:lnTo>
                <a:lnTo>
                  <a:pt x="4965" y="4940"/>
                </a:lnTo>
                <a:lnTo>
                  <a:pt x="1244" y="10541"/>
                </a:lnTo>
                <a:lnTo>
                  <a:pt x="0" y="16891"/>
                </a:lnTo>
                <a:lnTo>
                  <a:pt x="1244" y="23253"/>
                </a:lnTo>
                <a:lnTo>
                  <a:pt x="4965" y="28829"/>
                </a:lnTo>
                <a:lnTo>
                  <a:pt x="31457" y="55270"/>
                </a:lnTo>
                <a:lnTo>
                  <a:pt x="35814" y="56921"/>
                </a:lnTo>
                <a:lnTo>
                  <a:pt x="40132" y="56921"/>
                </a:lnTo>
                <a:lnTo>
                  <a:pt x="44488" y="56921"/>
                </a:lnTo>
                <a:lnTo>
                  <a:pt x="48806" y="55270"/>
                </a:lnTo>
                <a:lnTo>
                  <a:pt x="52120" y="51981"/>
                </a:lnTo>
                <a:lnTo>
                  <a:pt x="55854" y="46393"/>
                </a:lnTo>
                <a:lnTo>
                  <a:pt x="57086" y="40030"/>
                </a:lnTo>
                <a:close/>
              </a:path>
              <a:path w="153670" h="153669">
                <a:moveTo>
                  <a:pt x="153619" y="136321"/>
                </a:moveTo>
                <a:lnTo>
                  <a:pt x="125450" y="101219"/>
                </a:lnTo>
                <a:lnTo>
                  <a:pt x="113474" y="96278"/>
                </a:lnTo>
                <a:lnTo>
                  <a:pt x="107099" y="97523"/>
                </a:lnTo>
                <a:lnTo>
                  <a:pt x="101498" y="101219"/>
                </a:lnTo>
                <a:lnTo>
                  <a:pt x="97777" y="106819"/>
                </a:lnTo>
                <a:lnTo>
                  <a:pt x="96532" y="113169"/>
                </a:lnTo>
                <a:lnTo>
                  <a:pt x="97777" y="119532"/>
                </a:lnTo>
                <a:lnTo>
                  <a:pt x="101498" y="125107"/>
                </a:lnTo>
                <a:lnTo>
                  <a:pt x="128016" y="151549"/>
                </a:lnTo>
                <a:lnTo>
                  <a:pt x="132359" y="153200"/>
                </a:lnTo>
                <a:lnTo>
                  <a:pt x="136690" y="153200"/>
                </a:lnTo>
                <a:lnTo>
                  <a:pt x="141020" y="153200"/>
                </a:lnTo>
                <a:lnTo>
                  <a:pt x="145364" y="151549"/>
                </a:lnTo>
                <a:lnTo>
                  <a:pt x="148653" y="148272"/>
                </a:lnTo>
                <a:lnTo>
                  <a:pt x="152374" y="142671"/>
                </a:lnTo>
                <a:lnTo>
                  <a:pt x="153619" y="136321"/>
                </a:lnTo>
                <a:close/>
              </a:path>
              <a:path w="153670" h="153669">
                <a:moveTo>
                  <a:pt x="153631" y="16903"/>
                </a:moveTo>
                <a:lnTo>
                  <a:pt x="152400" y="10541"/>
                </a:lnTo>
                <a:lnTo>
                  <a:pt x="148678" y="4965"/>
                </a:lnTo>
                <a:lnTo>
                  <a:pt x="143065" y="1257"/>
                </a:lnTo>
                <a:lnTo>
                  <a:pt x="136690" y="25"/>
                </a:lnTo>
                <a:lnTo>
                  <a:pt x="130314" y="1257"/>
                </a:lnTo>
                <a:lnTo>
                  <a:pt x="124714" y="4965"/>
                </a:lnTo>
                <a:lnTo>
                  <a:pt x="101523" y="28079"/>
                </a:lnTo>
                <a:lnTo>
                  <a:pt x="97790" y="33667"/>
                </a:lnTo>
                <a:lnTo>
                  <a:pt x="96545" y="40030"/>
                </a:lnTo>
                <a:lnTo>
                  <a:pt x="97790" y="46380"/>
                </a:lnTo>
                <a:lnTo>
                  <a:pt x="101523" y="51968"/>
                </a:lnTo>
                <a:lnTo>
                  <a:pt x="104813" y="55270"/>
                </a:lnTo>
                <a:lnTo>
                  <a:pt x="109156" y="56921"/>
                </a:lnTo>
                <a:lnTo>
                  <a:pt x="113487" y="56921"/>
                </a:lnTo>
                <a:lnTo>
                  <a:pt x="117817" y="56921"/>
                </a:lnTo>
                <a:lnTo>
                  <a:pt x="122135" y="55270"/>
                </a:lnTo>
                <a:lnTo>
                  <a:pt x="148678" y="28854"/>
                </a:lnTo>
                <a:lnTo>
                  <a:pt x="152400" y="23253"/>
                </a:lnTo>
                <a:lnTo>
                  <a:pt x="153631" y="16903"/>
                </a:lnTo>
                <a:close/>
              </a:path>
            </a:pathLst>
          </a:custGeom>
          <a:solidFill>
            <a:srgbClr val="468BA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CD85A-679B-188F-A879-0CE71C879552}"/>
              </a:ext>
            </a:extLst>
          </p:cNvPr>
          <p:cNvSpPr txBox="1"/>
          <p:nvPr/>
        </p:nvSpPr>
        <p:spPr>
          <a:xfrm>
            <a:off x="609142" y="594359"/>
            <a:ext cx="455975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UNICON-IAM-Damage : 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경제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-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기후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-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피해 연계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468CAF"/>
              </a:solidFill>
              <a:effectLst/>
              <a:uLnTx/>
              <a:uFillTx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8" name="사각형: 둥근 모서리 15">
            <a:extLst>
              <a:ext uri="{FF2B5EF4-FFF2-40B4-BE49-F238E27FC236}">
                <a16:creationId xmlns:a16="http://schemas.microsoft.com/office/drawing/2014/main" id="{0F039A21-A140-3F64-E28A-01F0C3E17E09}"/>
              </a:ext>
            </a:extLst>
          </p:cNvPr>
          <p:cNvSpPr/>
          <p:nvPr/>
        </p:nvSpPr>
        <p:spPr>
          <a:xfrm>
            <a:off x="623888" y="3714412"/>
            <a:ext cx="10944225" cy="2935422"/>
          </a:xfrm>
          <a:prstGeom prst="roundRect">
            <a:avLst>
              <a:gd name="adj" fmla="val 28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글로벌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국가별 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GDP,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국가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산업별 생산</a:t>
            </a:r>
            <a:r>
              <a:rPr lang="en-US" altLang="ko-KR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피해함수별 피해율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4">
            <a:extLst>
              <a:ext uri="{FF2B5EF4-FFF2-40B4-BE49-F238E27FC236}">
                <a16:creationId xmlns:a16="http://schemas.microsoft.com/office/drawing/2014/main" id="{4BC8177F-D919-AE0D-53A2-14829EA99C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162" y="3411292"/>
            <a:ext cx="173289" cy="1278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62CCE7-CFE6-99DB-BC15-A4905499D9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275" y="4117729"/>
            <a:ext cx="3777694" cy="25169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1A68CC-098C-1351-2760-39541D1444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5714" y="4117729"/>
            <a:ext cx="3777694" cy="2546549"/>
          </a:xfrm>
          <a:prstGeom prst="rect">
            <a:avLst/>
          </a:prstGeom>
        </p:spPr>
      </p:pic>
      <p:pic>
        <p:nvPicPr>
          <p:cNvPr id="18" name="그림 4" descr="텍스트, 스크린샷, 폰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995BBA3-1471-693F-FE34-59A2D277A7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" t="738" r="636" b="1250"/>
          <a:stretch/>
        </p:blipFill>
        <p:spPr>
          <a:xfrm>
            <a:off x="8329153" y="4127722"/>
            <a:ext cx="3412984" cy="229123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D2C0CEE-4AFB-B02D-8F38-2381875841A5}"/>
              </a:ext>
            </a:extLst>
          </p:cNvPr>
          <p:cNvSpPr txBox="1"/>
          <p:nvPr/>
        </p:nvSpPr>
        <p:spPr>
          <a:xfrm>
            <a:off x="8482178" y="6399853"/>
            <a:ext cx="3095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Sectoral Production</a:t>
            </a:r>
          </a:p>
        </p:txBody>
      </p:sp>
    </p:spTree>
    <p:extLst>
      <p:ext uri="{BB962C8B-B14F-4D97-AF65-F5344CB8AC3E}">
        <p14:creationId xmlns:p14="http://schemas.microsoft.com/office/powerpoint/2010/main" val="18604871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2176</TotalTime>
  <Words>738</Words>
  <Application>Microsoft Office PowerPoint</Application>
  <PresentationFormat>Widescreen</PresentationFormat>
  <Paragraphs>85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Microsoft GothicNeo</vt:lpstr>
      <vt:lpstr>Source Han Sans KR</vt:lpstr>
      <vt:lpstr>나눔스퀘어</vt:lpstr>
      <vt:lpstr>나눔스퀘어 Bold</vt:lpstr>
      <vt:lpstr>나눔스퀘어 ExtraBold</vt:lpstr>
      <vt:lpstr>Dotum</vt:lpstr>
      <vt:lpstr>맑은 고딕</vt:lpstr>
      <vt:lpstr>배달의민족 도현</vt:lpstr>
      <vt:lpstr>Aptos</vt:lpstr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Eun Young Kim</dc:creator>
  <cp:lastModifiedBy>Eun Young Kim</cp:lastModifiedBy>
  <cp:revision>233</cp:revision>
  <dcterms:created xsi:type="dcterms:W3CDTF">2025-04-08T05:32:37Z</dcterms:created>
  <dcterms:modified xsi:type="dcterms:W3CDTF">2025-07-03T00:46:42Z</dcterms:modified>
</cp:coreProperties>
</file>